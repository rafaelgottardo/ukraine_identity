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C4698498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ED_EE6EB351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F4_62B5A04.xml" ContentType="application/vnd.ms-powerpoint.comments+xml"/>
  <Override PartName="/ppt/notesSlides/notesSlide21.xml" ContentType="application/vnd.openxmlformats-officedocument.presentationml.notesSlide+xml"/>
  <Override PartName="/ppt/comments/modernComment_1D6_1F34E639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8"/>
  </p:notesMasterIdLst>
  <p:sldIdLst>
    <p:sldId id="256" r:id="rId2"/>
    <p:sldId id="258" r:id="rId3"/>
    <p:sldId id="481" r:id="rId4"/>
    <p:sldId id="257" r:id="rId5"/>
    <p:sldId id="259" r:id="rId6"/>
    <p:sldId id="482" r:id="rId7"/>
    <p:sldId id="484" r:id="rId8"/>
    <p:sldId id="483" r:id="rId9"/>
    <p:sldId id="267" r:id="rId10"/>
    <p:sldId id="269" r:id="rId11"/>
    <p:sldId id="496" r:id="rId12"/>
    <p:sldId id="497" r:id="rId13"/>
    <p:sldId id="509" r:id="rId14"/>
    <p:sldId id="487" r:id="rId15"/>
    <p:sldId id="493" r:id="rId16"/>
    <p:sldId id="507" r:id="rId17"/>
    <p:sldId id="508" r:id="rId18"/>
    <p:sldId id="499" r:id="rId19"/>
    <p:sldId id="505" r:id="rId20"/>
    <p:sldId id="500" r:id="rId21"/>
    <p:sldId id="470" r:id="rId22"/>
    <p:sldId id="278" r:id="rId23"/>
    <p:sldId id="503" r:id="rId24"/>
    <p:sldId id="480" r:id="rId25"/>
    <p:sldId id="501" r:id="rId26"/>
    <p:sldId id="506" r:id="rId27"/>
    <p:sldId id="502" r:id="rId28"/>
    <p:sldId id="488" r:id="rId29"/>
    <p:sldId id="489" r:id="rId30"/>
    <p:sldId id="490" r:id="rId31"/>
    <p:sldId id="491" r:id="rId32"/>
    <p:sldId id="492" r:id="rId33"/>
    <p:sldId id="495" r:id="rId34"/>
    <p:sldId id="494" r:id="rId35"/>
    <p:sldId id="485" r:id="rId36"/>
    <p:sldId id="504" r:id="rId37"/>
  </p:sldIdLst>
  <p:sldSz cx="12192000" cy="6858000"/>
  <p:notesSz cx="7315200" cy="9601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C28F65-F820-4D34-6B5B-4A824E12090D}" name="Maria Popova, Prof" initials="MP" userId="S::maria.popova@mcgill.ca::800883ef-92d5-493e-8333-1f30dbd96e71" providerId="AD"/>
  <p188:author id="{A6D83774-5653-4EB6-EBD2-937A99233C76}" name="Rafael Campos-Gottardo" initials="RCG" userId="S::rafael.campos-gottardo@mail.mcgill.ca::b479da54-c673-4cc7-a194-1385beec77cb" providerId="AD"/>
  <p188:author id="{DB49FCE9-3542-B20E-1564-C4B53864BAA9}" name="Dietlind Stolle, Prof" initials="DS" userId="S::dietlind.stolle@mcgill.ca::7649db5c-7cae-4345-a59b-c29591ddc7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12" autoAdjust="0"/>
    <p:restoredTop sz="93152" autoAdjust="0"/>
  </p:normalViewPr>
  <p:slideViewPr>
    <p:cSldViewPr snapToGrid="0">
      <p:cViewPr varScale="1">
        <p:scale>
          <a:sx n="87" d="100"/>
          <a:sy n="87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omments/modernComment_1D6_1F34E6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AD09AD-0C4F-4A41-B56B-FC5937E89C43}" authorId="{E5C28F65-F820-4D34-6B5B-4A824E12090D}" created="2026-05-12T20:20:01.60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23560505" sldId="470"/>
      <ac:spMk id="3" creationId="{A2F4F121-CFD8-F319-65C0-17CE57B6A0CF}"/>
      <ac:txMk cp="1">
        <ac:context len="452" hash="3040092806"/>
      </ac:txMk>
    </ac:txMkLst>
    <p188:pos x="3228813" y="2712203"/>
    <p188:txBody>
      <a:bodyPr/>
      <a:lstStyle/>
      <a:p>
        <a:r>
          <a:rPr lang="en-US"/>
          <a:t>not sure if we should raise this in the conclusions. it's sort of a new topic</a:t>
        </a:r>
      </a:p>
    </p188:txBody>
  </p188:cm>
  <p188:cm id="{B53DFBB9-A82D-6743-8F57-4A2F416133EE}" authorId="{A6D83774-5653-4EB6-EBD2-937A99233C76}" created="2026-05-12T20:20:09.5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23560505" sldId="470"/>
      <ac:spMk id="3" creationId="{A2F4F121-CFD8-F319-65C0-17CE57B6A0CF}"/>
    </ac:deMkLst>
    <p188:txBody>
      <a:bodyPr/>
      <a:lstStyle/>
      <a:p>
        <a:r>
          <a:rPr lang="en-US"/>
          <a:t>Still needs to be updated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12T20:44:30.117" authorId="{E5C28F65-F820-4D34-6B5B-4A824E12090D}"/>
          </p223:rxn>
        </p223:reactions>
      </p:ext>
    </p188:extLst>
  </p188:cm>
  <p188:cm id="{89710240-B5DA-461A-AE8A-5373334666C3}" authorId="{E5C28F65-F820-4D34-6B5B-4A824E12090D}" status="resolved" created="2026-05-12T20:23:15.90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23560505" sldId="470"/>
      <ac:spMk id="3" creationId="{A2F4F121-CFD8-F319-65C0-17CE57B6A0CF}"/>
      <ac:txMk cp="1">
        <ac:context len="452" hash="3040092806"/>
      </ac:txMk>
    </ac:txMkLst>
    <p188:pos x="4894881" y="1149457"/>
    <p188:txBody>
      <a:bodyPr/>
      <a:lstStyle/>
      <a:p>
        <a:r>
          <a:rPr lang="en-US"/>
          <a:t>But we don't really talk about dampening support over time-- the intro said it's steady over time. And we don't talk about these factors really. I'd remove this altogether.</a:t>
        </a:r>
      </a:p>
    </p188:txBody>
  </p188:cm>
  <p188:cm id="{F5818D45-8987-46ED-B8E8-D1A92ACF2E6E}" authorId="{E5C28F65-F820-4D34-6B5B-4A824E12090D}" status="resolved" created="2026-05-12T20:26:21.48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23560505" sldId="470"/>
      <ac:spMk id="3" creationId="{A2F4F121-CFD8-F319-65C0-17CE57B6A0CF}"/>
      <ac:txMk cp="1">
        <ac:context len="452" hash="3040092806"/>
      </ac:txMk>
    </ac:txMkLst>
    <p188:pos x="9712271" y="1937288"/>
    <p188:txBody>
      <a:bodyPr/>
      <a:lstStyle/>
      <a:p>
        <a:r>
          <a:rPr lang="en-US"/>
          <a:t>I'd reword-- it's not that this new cleavage builds on previous ones, it's a newly emerging one. Right? How about: Europe is experiencing an emerging new cleavage: pro-EU/pro-democracy/security-focused vs. anti-EU/anti-democracy/pro-Russia.</a:t>
        </a:r>
      </a:p>
    </p188:txBody>
  </p188:cm>
</p188:cmLst>
</file>

<file path=ppt/comments/modernComment_1ED_EE6EB3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BECB3F-35E3-D640-9077-5A8620EC19C3}" authorId="{A6D83774-5653-4EB6-EBD2-937A99233C76}" created="2026-05-17T16:17:21.5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00232273" sldId="493"/>
      <ac:picMk id="4" creationId="{AA072770-9378-FA90-CB36-C4733FC04645}"/>
    </ac:deMkLst>
    <p188:txBody>
      <a:bodyPr/>
      <a:lstStyle/>
      <a:p>
        <a:r>
          <a:rPr lang="en-US"/>
          <a:t>This one includes EU membership</a:t>
        </a:r>
      </a:p>
    </p188:txBody>
  </p188:cm>
</p188:cmLst>
</file>

<file path=ppt/comments/modernComment_1F4_62B5A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94B5D0-2E62-584E-8B04-7AB4A97D8609}" authorId="{A6D83774-5653-4EB6-EBD2-937A99233C76}" created="2026-05-15T14:48:39.3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504388" sldId="500"/>
      <ac:picMk id="4" creationId="{308FC7C1-D93E-C3E6-C8D0-F0FB349B3843}"/>
    </ac:deMkLst>
    <p188:txBody>
      <a:bodyPr/>
      <a:lstStyle/>
      <a:p>
        <a:r>
          <a:rPr lang="en-US"/>
          <a:t>The UK is really the only country where it doesn't work at all</a:t>
        </a:r>
      </a:p>
    </p188:txBody>
  </p188:cm>
  <p188:cm id="{4ABA4E8F-F7F8-4F42-8141-BDD3326F61C7}" authorId="{A6D83774-5653-4EB6-EBD2-937A99233C76}" created="2026-05-17T18:49:35.0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504388" sldId="500"/>
      <ac:picMk id="4" creationId="{3F462953-37B6-3309-E3C4-013E8B8F33D8}"/>
    </ac:deMkLst>
    <p188:txBody>
      <a:bodyPr/>
      <a:lstStyle/>
      <a:p>
        <a:r>
          <a:rPr lang="en-US"/>
          <a:t>This is an overlapping mess but I think it illustrates what we're going for this way</a:t>
        </a:r>
      </a:p>
    </p188:txBody>
  </p188:cm>
</p188:cmLst>
</file>

<file path=ppt/comments/modernComment_102_C469849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28954B-98FE-3443-9BB3-075CC5ABA893}" authorId="{A6D83774-5653-4EB6-EBD2-937A99233C76}" created="2026-05-18T17:49:53.4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95249560" sldId="258"/>
      <ac:graphicFrameMk id="5" creationId="{D7C2D054-21C8-322B-1B38-657B431ACA38}"/>
      <dc:dgmMk xmlns:dc="http://schemas.microsoft.com/office/drawing/2013/diagram/command"/>
      <dc:nodeMk xmlns:dc="http://schemas.microsoft.com/office/drawing/2013/diagram/command" id="{A2897660-8797-4A28-8067-888462FA69D6}"/>
      <ac:txMk cp="3" len="189">
        <ac:context len="193" hash="1476746222"/>
      </ac:txMk>
    </ac:txMkLst>
    <p188:pos x="10724234" y="3009229"/>
    <p188:txBody>
      <a:bodyPr/>
      <a:lstStyle/>
      <a:p>
        <a:r>
          <a:rPr lang="en-US"/>
          <a:t>MP: Hard to express this in a single line, but I thought this might steer people into thinking about Napoleonic wars, etc. How about: The Russian war against Ukraine intensifies a debate over collaboration with Russia vs. security from Russia, which is rooted in Europe’s self-conceptualization and its relationship with Russia (liberal vs illiberal)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8353F-E01E-4161-8601-86CA144B166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5BE20F-AF12-48A4-BE85-72F3DAA48C41}">
      <dgm:prSet custT="1"/>
      <dgm:spPr/>
      <dgm:t>
        <a:bodyPr/>
        <a:lstStyle/>
        <a:p>
          <a:r>
            <a:rPr lang="en-CA" sz="2800" noProof="0" dirty="0"/>
            <a:t>1) Cleavages are based on individual's belief systems, identities or political conflicts</a:t>
          </a:r>
        </a:p>
      </dgm:t>
    </dgm:pt>
    <dgm:pt modelId="{B0A5F9D0-734A-40E1-8897-DDCB2A9BC802}" type="parTrans" cxnId="{6E5A1E2E-62D9-4ED6-8944-0BD68992A44D}">
      <dgm:prSet/>
      <dgm:spPr/>
      <dgm:t>
        <a:bodyPr/>
        <a:lstStyle/>
        <a:p>
          <a:endParaRPr lang="en-US" sz="2800"/>
        </a:p>
      </dgm:t>
    </dgm:pt>
    <dgm:pt modelId="{0927D1EB-59F8-4D24-85F6-45177E003962}" type="sibTrans" cxnId="{6E5A1E2E-62D9-4ED6-8944-0BD68992A44D}">
      <dgm:prSet/>
      <dgm:spPr/>
      <dgm:t>
        <a:bodyPr/>
        <a:lstStyle/>
        <a:p>
          <a:endParaRPr lang="en-US" sz="2800"/>
        </a:p>
      </dgm:t>
    </dgm:pt>
    <dgm:pt modelId="{A2897660-8797-4A28-8067-888462FA69D6}">
      <dgm:prSet custT="1"/>
      <dgm:spPr/>
      <dgm:t>
        <a:bodyPr/>
        <a:lstStyle/>
        <a:p>
          <a:r>
            <a:rPr lang="en-CA" sz="2800" noProof="0" dirty="0"/>
            <a:t>3) The war against Ukraine represents conflict deeply rooted in the history of Europe and its relationship with Russia (liberal vs illiberal) easily forming a collaboration-security division. </a:t>
          </a:r>
        </a:p>
      </dgm:t>
    </dgm:pt>
    <dgm:pt modelId="{9FFDF341-52AE-4F40-B0AC-1EAC34E9F619}" type="parTrans" cxnId="{527708FB-7291-492D-AE2D-1D58B2B7C8F5}">
      <dgm:prSet/>
      <dgm:spPr/>
      <dgm:t>
        <a:bodyPr/>
        <a:lstStyle/>
        <a:p>
          <a:endParaRPr lang="en-US" sz="2800"/>
        </a:p>
      </dgm:t>
    </dgm:pt>
    <dgm:pt modelId="{53375A91-80EF-4EB8-A1FE-D37D21C6CC63}" type="sibTrans" cxnId="{527708FB-7291-492D-AE2D-1D58B2B7C8F5}">
      <dgm:prSet/>
      <dgm:spPr/>
      <dgm:t>
        <a:bodyPr/>
        <a:lstStyle/>
        <a:p>
          <a:endParaRPr lang="en-US" sz="2800"/>
        </a:p>
      </dgm:t>
    </dgm:pt>
    <dgm:pt modelId="{9B176643-E5C7-1441-AECF-39C92EAC2314}">
      <dgm:prSet custT="1"/>
      <dgm:spPr/>
      <dgm:t>
        <a:bodyPr/>
        <a:lstStyle/>
        <a:p>
          <a:r>
            <a:rPr lang="en-CA" sz="2800" noProof="0" dirty="0"/>
            <a:t>2) External threats might be utilized to transform salient foreign policy issues into structured belief systems.  </a:t>
          </a:r>
        </a:p>
      </dgm:t>
    </dgm:pt>
    <dgm:pt modelId="{71BD81F2-4D78-CC46-9210-3B98AD826477}" type="parTrans" cxnId="{5CD9553B-3E0E-194B-9ADB-EE45A8CA2568}">
      <dgm:prSet/>
      <dgm:spPr/>
      <dgm:t>
        <a:bodyPr/>
        <a:lstStyle/>
        <a:p>
          <a:endParaRPr lang="en-US"/>
        </a:p>
      </dgm:t>
    </dgm:pt>
    <dgm:pt modelId="{A68CE68C-A128-0B41-ABD5-774ECECA677E}" type="sibTrans" cxnId="{5CD9553B-3E0E-194B-9ADB-EE45A8CA2568}">
      <dgm:prSet/>
      <dgm:spPr/>
      <dgm:t>
        <a:bodyPr/>
        <a:lstStyle/>
        <a:p>
          <a:endParaRPr lang="en-US"/>
        </a:p>
      </dgm:t>
    </dgm:pt>
    <dgm:pt modelId="{E8DE8F9E-DC3B-CB4D-88D1-844BEAB296FA}">
      <dgm:prSet custT="1"/>
      <dgm:spPr/>
      <dgm:t>
        <a:bodyPr/>
        <a:lstStyle/>
        <a:p>
          <a:r>
            <a:rPr lang="en-CA" sz="2800" noProof="0" dirty="0"/>
            <a:t> 4) Most Europeans take a position on this dimension. It cuts across existing cleavages and has political consequences. We explore whether the collaboration-security division represents a new political cleavage in Europe. </a:t>
          </a:r>
        </a:p>
      </dgm:t>
    </dgm:pt>
    <dgm:pt modelId="{EF52267E-D7E8-6E44-A6FC-506E76CD9863}" type="parTrans" cxnId="{CF673131-2266-E943-AB6C-29F2F9B4F974}">
      <dgm:prSet/>
      <dgm:spPr/>
      <dgm:t>
        <a:bodyPr/>
        <a:lstStyle/>
        <a:p>
          <a:endParaRPr lang="en-US"/>
        </a:p>
      </dgm:t>
    </dgm:pt>
    <dgm:pt modelId="{FD8D38DA-2B8D-0A4F-9949-F1DE94D203A7}" type="sibTrans" cxnId="{CF673131-2266-E943-AB6C-29F2F9B4F974}">
      <dgm:prSet/>
      <dgm:spPr/>
      <dgm:t>
        <a:bodyPr/>
        <a:lstStyle/>
        <a:p>
          <a:endParaRPr lang="en-US"/>
        </a:p>
      </dgm:t>
    </dgm:pt>
    <dgm:pt modelId="{1881559D-6034-46FC-84BE-23BE9FC4034A}" type="pres">
      <dgm:prSet presAssocID="{7EB8353F-E01E-4161-8601-86CA144B1664}" presName="vert0" presStyleCnt="0">
        <dgm:presLayoutVars>
          <dgm:dir/>
          <dgm:animOne val="branch"/>
          <dgm:animLvl val="lvl"/>
        </dgm:presLayoutVars>
      </dgm:prSet>
      <dgm:spPr/>
    </dgm:pt>
    <dgm:pt modelId="{EDD58834-843F-4520-92BA-113AD3B59D7F}" type="pres">
      <dgm:prSet presAssocID="{F95BE20F-AF12-48A4-BE85-72F3DAA48C41}" presName="thickLine" presStyleLbl="alignNode1" presStyleIdx="0" presStyleCnt="4"/>
      <dgm:spPr/>
    </dgm:pt>
    <dgm:pt modelId="{587D3766-1B2B-4514-B7EA-03B4B3C7845B}" type="pres">
      <dgm:prSet presAssocID="{F95BE20F-AF12-48A4-BE85-72F3DAA48C41}" presName="horz1" presStyleCnt="0"/>
      <dgm:spPr/>
    </dgm:pt>
    <dgm:pt modelId="{9F83892A-746B-4305-8681-B0A248A374D0}" type="pres">
      <dgm:prSet presAssocID="{F95BE20F-AF12-48A4-BE85-72F3DAA48C41}" presName="tx1" presStyleLbl="revTx" presStyleIdx="0" presStyleCnt="4"/>
      <dgm:spPr/>
    </dgm:pt>
    <dgm:pt modelId="{91121AD2-FF7E-46BF-B794-E976BCF3E1C7}" type="pres">
      <dgm:prSet presAssocID="{F95BE20F-AF12-48A4-BE85-72F3DAA48C41}" presName="vert1" presStyleCnt="0"/>
      <dgm:spPr/>
    </dgm:pt>
    <dgm:pt modelId="{7948EC50-AB35-5440-BAB7-79246BB45509}" type="pres">
      <dgm:prSet presAssocID="{9B176643-E5C7-1441-AECF-39C92EAC2314}" presName="thickLine" presStyleLbl="alignNode1" presStyleIdx="1" presStyleCnt="4"/>
      <dgm:spPr/>
    </dgm:pt>
    <dgm:pt modelId="{6A7C579F-976D-1C47-94FE-25A046C0CF60}" type="pres">
      <dgm:prSet presAssocID="{9B176643-E5C7-1441-AECF-39C92EAC2314}" presName="horz1" presStyleCnt="0"/>
      <dgm:spPr/>
    </dgm:pt>
    <dgm:pt modelId="{C00B541F-B88E-C342-B3F7-3A9499774F35}" type="pres">
      <dgm:prSet presAssocID="{9B176643-E5C7-1441-AECF-39C92EAC2314}" presName="tx1" presStyleLbl="revTx" presStyleIdx="1" presStyleCnt="4"/>
      <dgm:spPr/>
    </dgm:pt>
    <dgm:pt modelId="{3B7C08F7-D9DC-194C-8232-6F1A2DAB110D}" type="pres">
      <dgm:prSet presAssocID="{9B176643-E5C7-1441-AECF-39C92EAC2314}" presName="vert1" presStyleCnt="0"/>
      <dgm:spPr/>
    </dgm:pt>
    <dgm:pt modelId="{0A6BCBCD-C11C-4B35-A262-D48B8A2AB1D7}" type="pres">
      <dgm:prSet presAssocID="{A2897660-8797-4A28-8067-888462FA69D6}" presName="thickLine" presStyleLbl="alignNode1" presStyleIdx="2" presStyleCnt="4"/>
      <dgm:spPr/>
    </dgm:pt>
    <dgm:pt modelId="{FE106A06-A79F-4045-A10D-8897E352704C}" type="pres">
      <dgm:prSet presAssocID="{A2897660-8797-4A28-8067-888462FA69D6}" presName="horz1" presStyleCnt="0"/>
      <dgm:spPr/>
    </dgm:pt>
    <dgm:pt modelId="{171921D7-BAE5-4357-AFCD-03868C66A463}" type="pres">
      <dgm:prSet presAssocID="{A2897660-8797-4A28-8067-888462FA69D6}" presName="tx1" presStyleLbl="revTx" presStyleIdx="2" presStyleCnt="4"/>
      <dgm:spPr/>
    </dgm:pt>
    <dgm:pt modelId="{C2669765-5E30-4E6E-A5F4-4517FA5BE5C3}" type="pres">
      <dgm:prSet presAssocID="{A2897660-8797-4A28-8067-888462FA69D6}" presName="vert1" presStyleCnt="0"/>
      <dgm:spPr/>
    </dgm:pt>
    <dgm:pt modelId="{018ED86D-049C-B14E-838D-570221FB0A8B}" type="pres">
      <dgm:prSet presAssocID="{E8DE8F9E-DC3B-CB4D-88D1-844BEAB296FA}" presName="thickLine" presStyleLbl="alignNode1" presStyleIdx="3" presStyleCnt="4"/>
      <dgm:spPr/>
    </dgm:pt>
    <dgm:pt modelId="{2F1FB9C6-5692-5346-AAB1-4400342ACF35}" type="pres">
      <dgm:prSet presAssocID="{E8DE8F9E-DC3B-CB4D-88D1-844BEAB296FA}" presName="horz1" presStyleCnt="0"/>
      <dgm:spPr/>
    </dgm:pt>
    <dgm:pt modelId="{E3E304C4-E68F-AD41-B323-B75F67047E23}" type="pres">
      <dgm:prSet presAssocID="{E8DE8F9E-DC3B-CB4D-88D1-844BEAB296FA}" presName="tx1" presStyleLbl="revTx" presStyleIdx="3" presStyleCnt="4"/>
      <dgm:spPr/>
    </dgm:pt>
    <dgm:pt modelId="{A531A497-4994-EB4F-8F6A-0953591AC433}" type="pres">
      <dgm:prSet presAssocID="{E8DE8F9E-DC3B-CB4D-88D1-844BEAB296FA}" presName="vert1" presStyleCnt="0"/>
      <dgm:spPr/>
    </dgm:pt>
  </dgm:ptLst>
  <dgm:cxnLst>
    <dgm:cxn modelId="{2EC78524-62D7-4241-96A3-ACF27EB69572}" type="presOf" srcId="{7EB8353F-E01E-4161-8601-86CA144B1664}" destId="{1881559D-6034-46FC-84BE-23BE9FC4034A}" srcOrd="0" destOrd="0" presId="urn:microsoft.com/office/officeart/2008/layout/LinedList"/>
    <dgm:cxn modelId="{C55E4D28-AB39-214C-99EA-7DF1CDD2A238}" type="presOf" srcId="{E8DE8F9E-DC3B-CB4D-88D1-844BEAB296FA}" destId="{E3E304C4-E68F-AD41-B323-B75F67047E23}" srcOrd="0" destOrd="0" presId="urn:microsoft.com/office/officeart/2008/layout/LinedList"/>
    <dgm:cxn modelId="{6E5A1E2E-62D9-4ED6-8944-0BD68992A44D}" srcId="{7EB8353F-E01E-4161-8601-86CA144B1664}" destId="{F95BE20F-AF12-48A4-BE85-72F3DAA48C41}" srcOrd="0" destOrd="0" parTransId="{B0A5F9D0-734A-40E1-8897-DDCB2A9BC802}" sibTransId="{0927D1EB-59F8-4D24-85F6-45177E003962}"/>
    <dgm:cxn modelId="{CF673131-2266-E943-AB6C-29F2F9B4F974}" srcId="{7EB8353F-E01E-4161-8601-86CA144B1664}" destId="{E8DE8F9E-DC3B-CB4D-88D1-844BEAB296FA}" srcOrd="3" destOrd="0" parTransId="{EF52267E-D7E8-6E44-A6FC-506E76CD9863}" sibTransId="{FD8D38DA-2B8D-0A4F-9949-F1DE94D203A7}"/>
    <dgm:cxn modelId="{5CD9553B-3E0E-194B-9ADB-EE45A8CA2568}" srcId="{7EB8353F-E01E-4161-8601-86CA144B1664}" destId="{9B176643-E5C7-1441-AECF-39C92EAC2314}" srcOrd="1" destOrd="0" parTransId="{71BD81F2-4D78-CC46-9210-3B98AD826477}" sibTransId="{A68CE68C-A128-0B41-ABD5-774ECECA677E}"/>
    <dgm:cxn modelId="{E0CF3B47-B116-4F4B-B01B-4BA5CCEBB9A5}" type="presOf" srcId="{9B176643-E5C7-1441-AECF-39C92EAC2314}" destId="{C00B541F-B88E-C342-B3F7-3A9499774F35}" srcOrd="0" destOrd="0" presId="urn:microsoft.com/office/officeart/2008/layout/LinedList"/>
    <dgm:cxn modelId="{B421DA73-044B-4C53-B6F4-FB1DB2801622}" type="presOf" srcId="{F95BE20F-AF12-48A4-BE85-72F3DAA48C41}" destId="{9F83892A-746B-4305-8681-B0A248A374D0}" srcOrd="0" destOrd="0" presId="urn:microsoft.com/office/officeart/2008/layout/LinedList"/>
    <dgm:cxn modelId="{C5320CF3-C621-478D-8A8A-79F2C6F5CBCD}" type="presOf" srcId="{A2897660-8797-4A28-8067-888462FA69D6}" destId="{171921D7-BAE5-4357-AFCD-03868C66A463}" srcOrd="0" destOrd="0" presId="urn:microsoft.com/office/officeart/2008/layout/LinedList"/>
    <dgm:cxn modelId="{527708FB-7291-492D-AE2D-1D58B2B7C8F5}" srcId="{7EB8353F-E01E-4161-8601-86CA144B1664}" destId="{A2897660-8797-4A28-8067-888462FA69D6}" srcOrd="2" destOrd="0" parTransId="{9FFDF341-52AE-4F40-B0AC-1EAC34E9F619}" sibTransId="{53375A91-80EF-4EB8-A1FE-D37D21C6CC63}"/>
    <dgm:cxn modelId="{24FCF2A5-966A-4E6C-96FB-431A040CD9DD}" type="presParOf" srcId="{1881559D-6034-46FC-84BE-23BE9FC4034A}" destId="{EDD58834-843F-4520-92BA-113AD3B59D7F}" srcOrd="0" destOrd="0" presId="urn:microsoft.com/office/officeart/2008/layout/LinedList"/>
    <dgm:cxn modelId="{180284A7-AB07-458D-8FA5-976A40705D58}" type="presParOf" srcId="{1881559D-6034-46FC-84BE-23BE9FC4034A}" destId="{587D3766-1B2B-4514-B7EA-03B4B3C7845B}" srcOrd="1" destOrd="0" presId="urn:microsoft.com/office/officeart/2008/layout/LinedList"/>
    <dgm:cxn modelId="{728AE10C-C804-4082-9972-385C7BF4445A}" type="presParOf" srcId="{587D3766-1B2B-4514-B7EA-03B4B3C7845B}" destId="{9F83892A-746B-4305-8681-B0A248A374D0}" srcOrd="0" destOrd="0" presId="urn:microsoft.com/office/officeart/2008/layout/LinedList"/>
    <dgm:cxn modelId="{2BD60B86-949B-4D0A-96B7-34AF9E5C75E6}" type="presParOf" srcId="{587D3766-1B2B-4514-B7EA-03B4B3C7845B}" destId="{91121AD2-FF7E-46BF-B794-E976BCF3E1C7}" srcOrd="1" destOrd="0" presId="urn:microsoft.com/office/officeart/2008/layout/LinedList"/>
    <dgm:cxn modelId="{3504CA70-ACE2-9340-A1AA-3487294001B3}" type="presParOf" srcId="{1881559D-6034-46FC-84BE-23BE9FC4034A}" destId="{7948EC50-AB35-5440-BAB7-79246BB45509}" srcOrd="2" destOrd="0" presId="urn:microsoft.com/office/officeart/2008/layout/LinedList"/>
    <dgm:cxn modelId="{AE220948-855E-E642-A5A9-6323D7F05902}" type="presParOf" srcId="{1881559D-6034-46FC-84BE-23BE9FC4034A}" destId="{6A7C579F-976D-1C47-94FE-25A046C0CF60}" srcOrd="3" destOrd="0" presId="urn:microsoft.com/office/officeart/2008/layout/LinedList"/>
    <dgm:cxn modelId="{536ABDE1-8BC5-4E40-B2AC-FCDAD9DBA994}" type="presParOf" srcId="{6A7C579F-976D-1C47-94FE-25A046C0CF60}" destId="{C00B541F-B88E-C342-B3F7-3A9499774F35}" srcOrd="0" destOrd="0" presId="urn:microsoft.com/office/officeart/2008/layout/LinedList"/>
    <dgm:cxn modelId="{516E6391-CA29-0F4A-931A-4ED6CBA8AC9C}" type="presParOf" srcId="{6A7C579F-976D-1C47-94FE-25A046C0CF60}" destId="{3B7C08F7-D9DC-194C-8232-6F1A2DAB110D}" srcOrd="1" destOrd="0" presId="urn:microsoft.com/office/officeart/2008/layout/LinedList"/>
    <dgm:cxn modelId="{79741A42-4823-441F-9ED0-AE3D0FB25BB2}" type="presParOf" srcId="{1881559D-6034-46FC-84BE-23BE9FC4034A}" destId="{0A6BCBCD-C11C-4B35-A262-D48B8A2AB1D7}" srcOrd="4" destOrd="0" presId="urn:microsoft.com/office/officeart/2008/layout/LinedList"/>
    <dgm:cxn modelId="{DD7A64FE-4801-4A35-9AE6-CC5E514E7EAB}" type="presParOf" srcId="{1881559D-6034-46FC-84BE-23BE9FC4034A}" destId="{FE106A06-A79F-4045-A10D-8897E352704C}" srcOrd="5" destOrd="0" presId="urn:microsoft.com/office/officeart/2008/layout/LinedList"/>
    <dgm:cxn modelId="{F8E0C1FB-364A-49A1-8126-12972CADAF13}" type="presParOf" srcId="{FE106A06-A79F-4045-A10D-8897E352704C}" destId="{171921D7-BAE5-4357-AFCD-03868C66A463}" srcOrd="0" destOrd="0" presId="urn:microsoft.com/office/officeart/2008/layout/LinedList"/>
    <dgm:cxn modelId="{1FF67836-D71F-4438-977B-A72945FEA930}" type="presParOf" srcId="{FE106A06-A79F-4045-A10D-8897E352704C}" destId="{C2669765-5E30-4E6E-A5F4-4517FA5BE5C3}" srcOrd="1" destOrd="0" presId="urn:microsoft.com/office/officeart/2008/layout/LinedList"/>
    <dgm:cxn modelId="{06B45D93-6B6F-2644-8B5D-7FE0EB9931B2}" type="presParOf" srcId="{1881559D-6034-46FC-84BE-23BE9FC4034A}" destId="{018ED86D-049C-B14E-838D-570221FB0A8B}" srcOrd="6" destOrd="0" presId="urn:microsoft.com/office/officeart/2008/layout/LinedList"/>
    <dgm:cxn modelId="{3ACB55FF-CC93-254C-8460-3E3349CED2C2}" type="presParOf" srcId="{1881559D-6034-46FC-84BE-23BE9FC4034A}" destId="{2F1FB9C6-5692-5346-AAB1-4400342ACF35}" srcOrd="7" destOrd="0" presId="urn:microsoft.com/office/officeart/2008/layout/LinedList"/>
    <dgm:cxn modelId="{ACD21E99-FFF2-3A4C-A3C7-BE9E8BA28C6C}" type="presParOf" srcId="{2F1FB9C6-5692-5346-AAB1-4400342ACF35}" destId="{E3E304C4-E68F-AD41-B323-B75F67047E23}" srcOrd="0" destOrd="0" presId="urn:microsoft.com/office/officeart/2008/layout/LinedList"/>
    <dgm:cxn modelId="{F6B03C85-99B0-0840-84FA-7BEC42C6AAA9}" type="presParOf" srcId="{2F1FB9C6-5692-5346-AAB1-4400342ACF35}" destId="{A531A497-4994-EB4F-8F6A-0953591AC4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89DC43-99DE-448B-B80C-AB0039A486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8DE522-EE6B-47E2-8678-540B771CD8BB}">
      <dgm:prSet custT="1"/>
      <dgm:spPr/>
      <dgm:t>
        <a:bodyPr/>
        <a:lstStyle/>
        <a:p>
          <a:pPr rtl="0"/>
          <a:r>
            <a:rPr lang="en-CA" sz="2400" b="1" i="0" u="none" dirty="0"/>
            <a:t>E1) Europeans will take a position </a:t>
          </a:r>
          <a:r>
            <a:rPr lang="en-CA" sz="2400" b="1" i="0" u="none" dirty="0">
              <a:latin typeface="Arial" panose="020B0604020202020204"/>
            </a:rPr>
            <a:t>on </a:t>
          </a:r>
          <a:r>
            <a:rPr lang="en-CA" sz="2400" b="1" i="0" u="none" dirty="0"/>
            <a:t>the </a:t>
          </a:r>
          <a:r>
            <a:rPr lang="en-CA" sz="2400" b="1" i="0" u="none" dirty="0">
              <a:latin typeface="Arial" panose="020B0604020202020204"/>
            </a:rPr>
            <a:t>Russo-Ukrainian</a:t>
          </a:r>
          <a:r>
            <a:rPr lang="en-CA" sz="2400" b="1" i="0" u="none" dirty="0"/>
            <a:t> </a:t>
          </a:r>
          <a:r>
            <a:rPr lang="en-CA" sz="2400" b="1" i="0" u="none" dirty="0">
              <a:latin typeface="Arial" panose="020B0604020202020204"/>
            </a:rPr>
            <a:t>war </a:t>
          </a:r>
          <a:r>
            <a:rPr lang="en-CA" sz="2400" b="1" i="0" u="none" dirty="0"/>
            <a:t>along </a:t>
          </a:r>
          <a:r>
            <a:rPr lang="en-CA" sz="2400" b="1" i="0" u="none" dirty="0">
              <a:latin typeface="Arial" panose="020B0604020202020204"/>
            </a:rPr>
            <a:t>a security</a:t>
          </a:r>
          <a:r>
            <a:rPr lang="en-CA" sz="2400" b="1" i="0" u="none" dirty="0"/>
            <a:t>–collaboration dimension. </a:t>
          </a:r>
          <a:endParaRPr lang="en-CA" sz="2400" noProof="0" dirty="0"/>
        </a:p>
      </dgm:t>
    </dgm:pt>
    <dgm:pt modelId="{01253268-FA35-4386-839A-ECEC26E321B6}" type="parTrans" cxnId="{D35ABB26-2B7D-496A-9C23-7718060EF2F4}">
      <dgm:prSet/>
      <dgm:spPr/>
      <dgm:t>
        <a:bodyPr/>
        <a:lstStyle/>
        <a:p>
          <a:endParaRPr lang="en-US"/>
        </a:p>
      </dgm:t>
    </dgm:pt>
    <dgm:pt modelId="{D237E031-B22D-4BB0-ADDD-4577C0FEDA1F}" type="sibTrans" cxnId="{D35ABB26-2B7D-496A-9C23-7718060EF2F4}">
      <dgm:prSet/>
      <dgm:spPr/>
      <dgm:t>
        <a:bodyPr/>
        <a:lstStyle/>
        <a:p>
          <a:endParaRPr lang="en-US"/>
        </a:p>
      </dgm:t>
    </dgm:pt>
    <dgm:pt modelId="{BDE5E693-C78C-4A50-A5B6-62FF019E549B}">
      <dgm:prSet custT="1"/>
      <dgm:spPr/>
      <dgm:t>
        <a:bodyPr/>
        <a:lstStyle/>
        <a:p>
          <a:r>
            <a:rPr lang="en-CA" sz="2400" b="1" i="0" u="none" dirty="0"/>
            <a:t>E2) Horizontal coherence within the issue domain around the </a:t>
          </a:r>
          <a:r>
            <a:rPr lang="en-CA" sz="2400" b="1" i="0" u="none" dirty="0">
              <a:latin typeface="Arial" panose="020B0604020202020204"/>
            </a:rPr>
            <a:t>Russo-Ukrainian</a:t>
          </a:r>
          <a:r>
            <a:rPr lang="en-CA" sz="2400" b="1" i="0" u="none" dirty="0"/>
            <a:t> war. </a:t>
          </a:r>
          <a:endParaRPr lang="en-CA" sz="2400" noProof="0" dirty="0"/>
        </a:p>
      </dgm:t>
    </dgm:pt>
    <dgm:pt modelId="{38CB4493-FCA2-40E4-9139-CD426A86F5B1}" type="parTrans" cxnId="{2CC57B5D-6511-4BFA-87A7-A0392A180378}">
      <dgm:prSet/>
      <dgm:spPr/>
      <dgm:t>
        <a:bodyPr/>
        <a:lstStyle/>
        <a:p>
          <a:endParaRPr lang="en-US"/>
        </a:p>
      </dgm:t>
    </dgm:pt>
    <dgm:pt modelId="{A7026CEC-0EFD-44F6-9768-89285F0E1BDD}" type="sibTrans" cxnId="{2CC57B5D-6511-4BFA-87A7-A0392A180378}">
      <dgm:prSet/>
      <dgm:spPr/>
      <dgm:t>
        <a:bodyPr/>
        <a:lstStyle/>
        <a:p>
          <a:endParaRPr lang="en-US"/>
        </a:p>
      </dgm:t>
    </dgm:pt>
    <dgm:pt modelId="{E6E35AA8-13ED-49E8-9C71-7106DCFCC301}">
      <dgm:prSet custT="1"/>
      <dgm:spPr/>
      <dgm:t>
        <a:bodyPr/>
        <a:lstStyle/>
        <a:p>
          <a:r>
            <a:rPr lang="en-CA" sz="2400" b="1" i="0" u="none" dirty="0"/>
            <a:t>E3) Vertical extension of the security-collaboration dimension into a broader worldview.</a:t>
          </a:r>
          <a:endParaRPr lang="en-CA" sz="2400" noProof="0" dirty="0"/>
        </a:p>
      </dgm:t>
    </dgm:pt>
    <dgm:pt modelId="{CA5E7E29-171E-41B7-B93D-33FE5F7451B8}" type="parTrans" cxnId="{86DA339B-FF5D-4AEE-9D96-112FE2BBE131}">
      <dgm:prSet/>
      <dgm:spPr/>
      <dgm:t>
        <a:bodyPr/>
        <a:lstStyle/>
        <a:p>
          <a:endParaRPr lang="en-US"/>
        </a:p>
      </dgm:t>
    </dgm:pt>
    <dgm:pt modelId="{38A76DDC-245C-480B-92D0-A67114E5D4FF}" type="sibTrans" cxnId="{86DA339B-FF5D-4AEE-9D96-112FE2BBE131}">
      <dgm:prSet/>
      <dgm:spPr/>
      <dgm:t>
        <a:bodyPr/>
        <a:lstStyle/>
        <a:p>
          <a:endParaRPr lang="en-US"/>
        </a:p>
      </dgm:t>
    </dgm:pt>
    <dgm:pt modelId="{69E3884B-12F7-47D2-AE2F-BEC1508C0EBD}">
      <dgm:prSet custT="1"/>
      <dgm:spPr/>
      <dgm:t>
        <a:bodyPr/>
        <a:lstStyle/>
        <a:p>
          <a:r>
            <a:rPr lang="en-CA" sz="2400" b="1" i="0" u="none" dirty="0"/>
            <a:t>E4) The security–collaboration cleavage will cut across other prominent cleavages.</a:t>
          </a:r>
          <a:endParaRPr lang="en-CA" sz="2400" noProof="0" dirty="0"/>
        </a:p>
      </dgm:t>
    </dgm:pt>
    <dgm:pt modelId="{88779831-AD88-4CD5-80AC-1B7B19DF513A}" type="parTrans" cxnId="{33388DBD-D061-4237-BD16-6219C8C4EE1F}">
      <dgm:prSet/>
      <dgm:spPr/>
      <dgm:t>
        <a:bodyPr/>
        <a:lstStyle/>
        <a:p>
          <a:endParaRPr lang="en-US"/>
        </a:p>
      </dgm:t>
    </dgm:pt>
    <dgm:pt modelId="{0FC371AA-69C8-4141-97AC-EAEC59A7A73A}" type="sibTrans" cxnId="{33388DBD-D061-4237-BD16-6219C8C4EE1F}">
      <dgm:prSet/>
      <dgm:spPr/>
      <dgm:t>
        <a:bodyPr/>
        <a:lstStyle/>
        <a:p>
          <a:endParaRPr lang="en-US"/>
        </a:p>
      </dgm:t>
    </dgm:pt>
    <dgm:pt modelId="{B8ADB4CC-82FF-234E-A5D5-0B437F38E388}">
      <dgm:prSet custT="1"/>
      <dgm:spPr/>
      <dgm:t>
        <a:bodyPr/>
        <a:lstStyle/>
        <a:p>
          <a:pPr>
            <a:buNone/>
          </a:pPr>
          <a:r>
            <a:rPr lang="en-CA" sz="2400" b="1" i="0" u="none" dirty="0"/>
            <a:t>E5) This dimension has political relevance and consequences. </a:t>
          </a:r>
          <a:endParaRPr lang="en-CA" sz="2400" dirty="0"/>
        </a:p>
      </dgm:t>
    </dgm:pt>
    <dgm:pt modelId="{1867C9B7-F6EC-7C4F-883F-1EBDFCDC9654}" type="parTrans" cxnId="{48112289-8D63-A84E-8FA4-E971CE4F1D36}">
      <dgm:prSet/>
      <dgm:spPr/>
      <dgm:t>
        <a:bodyPr/>
        <a:lstStyle/>
        <a:p>
          <a:endParaRPr lang="en-US"/>
        </a:p>
      </dgm:t>
    </dgm:pt>
    <dgm:pt modelId="{48A6403D-B138-C14C-BD02-CBFA6AA834D7}" type="sibTrans" cxnId="{48112289-8D63-A84E-8FA4-E971CE4F1D36}">
      <dgm:prSet/>
      <dgm:spPr/>
      <dgm:t>
        <a:bodyPr/>
        <a:lstStyle/>
        <a:p>
          <a:endParaRPr lang="en-US"/>
        </a:p>
      </dgm:t>
    </dgm:pt>
    <dgm:pt modelId="{B40B11F2-C70F-42D3-A5C3-38EC915907F8}" type="pres">
      <dgm:prSet presAssocID="{CE89DC43-99DE-448B-B80C-AB0039A486B7}" presName="vert0" presStyleCnt="0">
        <dgm:presLayoutVars>
          <dgm:dir/>
          <dgm:animOne val="branch"/>
          <dgm:animLvl val="lvl"/>
        </dgm:presLayoutVars>
      </dgm:prSet>
      <dgm:spPr/>
    </dgm:pt>
    <dgm:pt modelId="{203C03DF-BE57-41E6-9FAA-8ED172F738B4}" type="pres">
      <dgm:prSet presAssocID="{A48DE522-EE6B-47E2-8678-540B771CD8BB}" presName="thickLine" presStyleLbl="alignNode1" presStyleIdx="0" presStyleCnt="5"/>
      <dgm:spPr/>
    </dgm:pt>
    <dgm:pt modelId="{25A4480F-2FA9-451B-9018-5374F87F58EC}" type="pres">
      <dgm:prSet presAssocID="{A48DE522-EE6B-47E2-8678-540B771CD8BB}" presName="horz1" presStyleCnt="0"/>
      <dgm:spPr/>
    </dgm:pt>
    <dgm:pt modelId="{CB1D4EC4-7611-4F09-A8DD-F7D36E027599}" type="pres">
      <dgm:prSet presAssocID="{A48DE522-EE6B-47E2-8678-540B771CD8BB}" presName="tx1" presStyleLbl="revTx" presStyleIdx="0" presStyleCnt="5"/>
      <dgm:spPr/>
    </dgm:pt>
    <dgm:pt modelId="{F6484D5E-7FAC-4B23-BC33-CE4C29F2D43F}" type="pres">
      <dgm:prSet presAssocID="{A48DE522-EE6B-47E2-8678-540B771CD8BB}" presName="vert1" presStyleCnt="0"/>
      <dgm:spPr/>
    </dgm:pt>
    <dgm:pt modelId="{9CB9E0E5-E624-4E85-9BFB-E24CA2E5C35F}" type="pres">
      <dgm:prSet presAssocID="{BDE5E693-C78C-4A50-A5B6-62FF019E549B}" presName="thickLine" presStyleLbl="alignNode1" presStyleIdx="1" presStyleCnt="5"/>
      <dgm:spPr/>
    </dgm:pt>
    <dgm:pt modelId="{E12A8A27-49A6-487A-AAB5-D0BF6AD2B256}" type="pres">
      <dgm:prSet presAssocID="{BDE5E693-C78C-4A50-A5B6-62FF019E549B}" presName="horz1" presStyleCnt="0"/>
      <dgm:spPr/>
    </dgm:pt>
    <dgm:pt modelId="{46657479-7782-4948-BD22-8EE3012E707D}" type="pres">
      <dgm:prSet presAssocID="{BDE5E693-C78C-4A50-A5B6-62FF019E549B}" presName="tx1" presStyleLbl="revTx" presStyleIdx="1" presStyleCnt="5"/>
      <dgm:spPr/>
    </dgm:pt>
    <dgm:pt modelId="{A2FB1E8C-2A59-43BD-A454-84EB5B85078E}" type="pres">
      <dgm:prSet presAssocID="{BDE5E693-C78C-4A50-A5B6-62FF019E549B}" presName="vert1" presStyleCnt="0"/>
      <dgm:spPr/>
    </dgm:pt>
    <dgm:pt modelId="{1B3EAC48-AE56-4002-98DB-F338709C316E}" type="pres">
      <dgm:prSet presAssocID="{E6E35AA8-13ED-49E8-9C71-7106DCFCC301}" presName="thickLine" presStyleLbl="alignNode1" presStyleIdx="2" presStyleCnt="5"/>
      <dgm:spPr/>
    </dgm:pt>
    <dgm:pt modelId="{A15AE7E1-B4A5-4B02-A972-59121F51527B}" type="pres">
      <dgm:prSet presAssocID="{E6E35AA8-13ED-49E8-9C71-7106DCFCC301}" presName="horz1" presStyleCnt="0"/>
      <dgm:spPr/>
    </dgm:pt>
    <dgm:pt modelId="{EDE97CC0-C223-4184-B3DB-ACF719113A0B}" type="pres">
      <dgm:prSet presAssocID="{E6E35AA8-13ED-49E8-9C71-7106DCFCC301}" presName="tx1" presStyleLbl="revTx" presStyleIdx="2" presStyleCnt="5"/>
      <dgm:spPr/>
    </dgm:pt>
    <dgm:pt modelId="{2CB38A6D-5C8D-46A8-8E61-20137A7F803B}" type="pres">
      <dgm:prSet presAssocID="{E6E35AA8-13ED-49E8-9C71-7106DCFCC301}" presName="vert1" presStyleCnt="0"/>
      <dgm:spPr/>
    </dgm:pt>
    <dgm:pt modelId="{DFD1BAEE-7474-4BEA-81F0-268399822A7C}" type="pres">
      <dgm:prSet presAssocID="{69E3884B-12F7-47D2-AE2F-BEC1508C0EBD}" presName="thickLine" presStyleLbl="alignNode1" presStyleIdx="3" presStyleCnt="5" custLinFactNeighborX="-131" custLinFactNeighborY="-6331"/>
      <dgm:spPr/>
    </dgm:pt>
    <dgm:pt modelId="{0D18E9C0-C16E-4D54-A946-F65B20F8466C}" type="pres">
      <dgm:prSet presAssocID="{69E3884B-12F7-47D2-AE2F-BEC1508C0EBD}" presName="horz1" presStyleCnt="0"/>
      <dgm:spPr/>
    </dgm:pt>
    <dgm:pt modelId="{CFCF6DAD-FBEE-4296-91DB-FD2187E00294}" type="pres">
      <dgm:prSet presAssocID="{69E3884B-12F7-47D2-AE2F-BEC1508C0EBD}" presName="tx1" presStyleLbl="revTx" presStyleIdx="3" presStyleCnt="5"/>
      <dgm:spPr/>
    </dgm:pt>
    <dgm:pt modelId="{E97EB5CA-4B50-4D68-BDC8-5381904CDCB5}" type="pres">
      <dgm:prSet presAssocID="{69E3884B-12F7-47D2-AE2F-BEC1508C0EBD}" presName="vert1" presStyleCnt="0"/>
      <dgm:spPr/>
    </dgm:pt>
    <dgm:pt modelId="{53226C76-B37D-6740-919E-8720E2E0FB62}" type="pres">
      <dgm:prSet presAssocID="{B8ADB4CC-82FF-234E-A5D5-0B437F38E388}" presName="thickLine" presStyleLbl="alignNode1" presStyleIdx="4" presStyleCnt="5"/>
      <dgm:spPr/>
    </dgm:pt>
    <dgm:pt modelId="{B60656FF-56D2-1741-96F2-BF0E5BA9E377}" type="pres">
      <dgm:prSet presAssocID="{B8ADB4CC-82FF-234E-A5D5-0B437F38E388}" presName="horz1" presStyleCnt="0"/>
      <dgm:spPr/>
    </dgm:pt>
    <dgm:pt modelId="{33015954-E25F-9843-95F0-6FE3865AB1AA}" type="pres">
      <dgm:prSet presAssocID="{B8ADB4CC-82FF-234E-A5D5-0B437F38E388}" presName="tx1" presStyleLbl="revTx" presStyleIdx="4" presStyleCnt="5"/>
      <dgm:spPr/>
    </dgm:pt>
    <dgm:pt modelId="{0AD047D4-DB71-754C-9F4A-DB21A4ED9DF7}" type="pres">
      <dgm:prSet presAssocID="{B8ADB4CC-82FF-234E-A5D5-0B437F38E388}" presName="vert1" presStyleCnt="0"/>
      <dgm:spPr/>
    </dgm:pt>
  </dgm:ptLst>
  <dgm:cxnLst>
    <dgm:cxn modelId="{0DB30E17-E33A-4FB3-9AF2-5438948096C5}" type="presOf" srcId="{69E3884B-12F7-47D2-AE2F-BEC1508C0EBD}" destId="{CFCF6DAD-FBEE-4296-91DB-FD2187E00294}" srcOrd="0" destOrd="0" presId="urn:microsoft.com/office/officeart/2008/layout/LinedList"/>
    <dgm:cxn modelId="{D35ABB26-2B7D-496A-9C23-7718060EF2F4}" srcId="{CE89DC43-99DE-448B-B80C-AB0039A486B7}" destId="{A48DE522-EE6B-47E2-8678-540B771CD8BB}" srcOrd="0" destOrd="0" parTransId="{01253268-FA35-4386-839A-ECEC26E321B6}" sibTransId="{D237E031-B22D-4BB0-ADDD-4577C0FEDA1F}"/>
    <dgm:cxn modelId="{6AFC724D-6B74-4A0E-9DD9-CB4D43E975EC}" type="presOf" srcId="{BDE5E693-C78C-4A50-A5B6-62FF019E549B}" destId="{46657479-7782-4948-BD22-8EE3012E707D}" srcOrd="0" destOrd="0" presId="urn:microsoft.com/office/officeart/2008/layout/LinedList"/>
    <dgm:cxn modelId="{CD65885A-9A2C-2F41-AFB0-06FC275E9F5C}" type="presOf" srcId="{B8ADB4CC-82FF-234E-A5D5-0B437F38E388}" destId="{33015954-E25F-9843-95F0-6FE3865AB1AA}" srcOrd="0" destOrd="0" presId="urn:microsoft.com/office/officeart/2008/layout/LinedList"/>
    <dgm:cxn modelId="{2CC57B5D-6511-4BFA-87A7-A0392A180378}" srcId="{CE89DC43-99DE-448B-B80C-AB0039A486B7}" destId="{BDE5E693-C78C-4A50-A5B6-62FF019E549B}" srcOrd="1" destOrd="0" parTransId="{38CB4493-FCA2-40E4-9139-CD426A86F5B1}" sibTransId="{A7026CEC-0EFD-44F6-9768-89285F0E1BDD}"/>
    <dgm:cxn modelId="{48112289-8D63-A84E-8FA4-E971CE4F1D36}" srcId="{CE89DC43-99DE-448B-B80C-AB0039A486B7}" destId="{B8ADB4CC-82FF-234E-A5D5-0B437F38E388}" srcOrd="4" destOrd="0" parTransId="{1867C9B7-F6EC-7C4F-883F-1EBDFCDC9654}" sibTransId="{48A6403D-B138-C14C-BD02-CBFA6AA834D7}"/>
    <dgm:cxn modelId="{86DA339B-FF5D-4AEE-9D96-112FE2BBE131}" srcId="{CE89DC43-99DE-448B-B80C-AB0039A486B7}" destId="{E6E35AA8-13ED-49E8-9C71-7106DCFCC301}" srcOrd="2" destOrd="0" parTransId="{CA5E7E29-171E-41B7-B93D-33FE5F7451B8}" sibTransId="{38A76DDC-245C-480B-92D0-A67114E5D4FF}"/>
    <dgm:cxn modelId="{0EF384A4-C606-4DEB-8294-838F0F2A7EC6}" type="presOf" srcId="{A48DE522-EE6B-47E2-8678-540B771CD8BB}" destId="{CB1D4EC4-7611-4F09-A8DD-F7D36E027599}" srcOrd="0" destOrd="0" presId="urn:microsoft.com/office/officeart/2008/layout/LinedList"/>
    <dgm:cxn modelId="{33388DBD-D061-4237-BD16-6219C8C4EE1F}" srcId="{CE89DC43-99DE-448B-B80C-AB0039A486B7}" destId="{69E3884B-12F7-47D2-AE2F-BEC1508C0EBD}" srcOrd="3" destOrd="0" parTransId="{88779831-AD88-4CD5-80AC-1B7B19DF513A}" sibTransId="{0FC371AA-69C8-4141-97AC-EAEC59A7A73A}"/>
    <dgm:cxn modelId="{4B4D21C4-7191-41DB-A07F-7421E6EE0822}" type="presOf" srcId="{E6E35AA8-13ED-49E8-9C71-7106DCFCC301}" destId="{EDE97CC0-C223-4184-B3DB-ACF719113A0B}" srcOrd="0" destOrd="0" presId="urn:microsoft.com/office/officeart/2008/layout/LinedList"/>
    <dgm:cxn modelId="{1C6AE9FD-09C6-49DC-A491-2AE9A72F1FFF}" type="presOf" srcId="{CE89DC43-99DE-448B-B80C-AB0039A486B7}" destId="{B40B11F2-C70F-42D3-A5C3-38EC915907F8}" srcOrd="0" destOrd="0" presId="urn:microsoft.com/office/officeart/2008/layout/LinedList"/>
    <dgm:cxn modelId="{869B3015-AD82-406D-ACE2-BE3FDAA05938}" type="presParOf" srcId="{B40B11F2-C70F-42D3-A5C3-38EC915907F8}" destId="{203C03DF-BE57-41E6-9FAA-8ED172F738B4}" srcOrd="0" destOrd="0" presId="urn:microsoft.com/office/officeart/2008/layout/LinedList"/>
    <dgm:cxn modelId="{92F0D663-E267-40AB-8A4F-E99B41EBD63C}" type="presParOf" srcId="{B40B11F2-C70F-42D3-A5C3-38EC915907F8}" destId="{25A4480F-2FA9-451B-9018-5374F87F58EC}" srcOrd="1" destOrd="0" presId="urn:microsoft.com/office/officeart/2008/layout/LinedList"/>
    <dgm:cxn modelId="{2F2211DB-71E6-4571-A5F2-CEA8D5E3A126}" type="presParOf" srcId="{25A4480F-2FA9-451B-9018-5374F87F58EC}" destId="{CB1D4EC4-7611-4F09-A8DD-F7D36E027599}" srcOrd="0" destOrd="0" presId="urn:microsoft.com/office/officeart/2008/layout/LinedList"/>
    <dgm:cxn modelId="{00640B68-5E3A-464B-9C43-6A4BAE0525F8}" type="presParOf" srcId="{25A4480F-2FA9-451B-9018-5374F87F58EC}" destId="{F6484D5E-7FAC-4B23-BC33-CE4C29F2D43F}" srcOrd="1" destOrd="0" presId="urn:microsoft.com/office/officeart/2008/layout/LinedList"/>
    <dgm:cxn modelId="{CD313F6B-9083-495D-BC97-493C0129EB19}" type="presParOf" srcId="{B40B11F2-C70F-42D3-A5C3-38EC915907F8}" destId="{9CB9E0E5-E624-4E85-9BFB-E24CA2E5C35F}" srcOrd="2" destOrd="0" presId="urn:microsoft.com/office/officeart/2008/layout/LinedList"/>
    <dgm:cxn modelId="{AE3FECF1-95A4-4263-BB9A-E5A7671D14CC}" type="presParOf" srcId="{B40B11F2-C70F-42D3-A5C3-38EC915907F8}" destId="{E12A8A27-49A6-487A-AAB5-D0BF6AD2B256}" srcOrd="3" destOrd="0" presId="urn:microsoft.com/office/officeart/2008/layout/LinedList"/>
    <dgm:cxn modelId="{8E456FD8-B387-4DE8-B0DD-005622DBDE96}" type="presParOf" srcId="{E12A8A27-49A6-487A-AAB5-D0BF6AD2B256}" destId="{46657479-7782-4948-BD22-8EE3012E707D}" srcOrd="0" destOrd="0" presId="urn:microsoft.com/office/officeart/2008/layout/LinedList"/>
    <dgm:cxn modelId="{668654A6-67D9-481C-B0A5-FA3A187A10A4}" type="presParOf" srcId="{E12A8A27-49A6-487A-AAB5-D0BF6AD2B256}" destId="{A2FB1E8C-2A59-43BD-A454-84EB5B85078E}" srcOrd="1" destOrd="0" presId="urn:microsoft.com/office/officeart/2008/layout/LinedList"/>
    <dgm:cxn modelId="{DA391BA7-10DF-4EDC-817C-EBA599292DD0}" type="presParOf" srcId="{B40B11F2-C70F-42D3-A5C3-38EC915907F8}" destId="{1B3EAC48-AE56-4002-98DB-F338709C316E}" srcOrd="4" destOrd="0" presId="urn:microsoft.com/office/officeart/2008/layout/LinedList"/>
    <dgm:cxn modelId="{155E0FA0-5A12-458E-9CE5-869493E8181B}" type="presParOf" srcId="{B40B11F2-C70F-42D3-A5C3-38EC915907F8}" destId="{A15AE7E1-B4A5-4B02-A972-59121F51527B}" srcOrd="5" destOrd="0" presId="urn:microsoft.com/office/officeart/2008/layout/LinedList"/>
    <dgm:cxn modelId="{09B53995-8259-404C-A5DD-39782EC2D029}" type="presParOf" srcId="{A15AE7E1-B4A5-4B02-A972-59121F51527B}" destId="{EDE97CC0-C223-4184-B3DB-ACF719113A0B}" srcOrd="0" destOrd="0" presId="urn:microsoft.com/office/officeart/2008/layout/LinedList"/>
    <dgm:cxn modelId="{1F601298-753E-41B1-8364-AB4F9A8F18BA}" type="presParOf" srcId="{A15AE7E1-B4A5-4B02-A972-59121F51527B}" destId="{2CB38A6D-5C8D-46A8-8E61-20137A7F803B}" srcOrd="1" destOrd="0" presId="urn:microsoft.com/office/officeart/2008/layout/LinedList"/>
    <dgm:cxn modelId="{5BE08942-9A5D-4DAA-B300-210C964D932E}" type="presParOf" srcId="{B40B11F2-C70F-42D3-A5C3-38EC915907F8}" destId="{DFD1BAEE-7474-4BEA-81F0-268399822A7C}" srcOrd="6" destOrd="0" presId="urn:microsoft.com/office/officeart/2008/layout/LinedList"/>
    <dgm:cxn modelId="{9563CA6D-17B1-42D3-B0BD-5EF1B75321E4}" type="presParOf" srcId="{B40B11F2-C70F-42D3-A5C3-38EC915907F8}" destId="{0D18E9C0-C16E-4D54-A946-F65B20F8466C}" srcOrd="7" destOrd="0" presId="urn:microsoft.com/office/officeart/2008/layout/LinedList"/>
    <dgm:cxn modelId="{09BCCA61-4A69-4E8F-8665-C4347BEA731A}" type="presParOf" srcId="{0D18E9C0-C16E-4D54-A946-F65B20F8466C}" destId="{CFCF6DAD-FBEE-4296-91DB-FD2187E00294}" srcOrd="0" destOrd="0" presId="urn:microsoft.com/office/officeart/2008/layout/LinedList"/>
    <dgm:cxn modelId="{BE19ED82-B19D-40E8-A22E-7762510BE7EF}" type="presParOf" srcId="{0D18E9C0-C16E-4D54-A946-F65B20F8466C}" destId="{E97EB5CA-4B50-4D68-BDC8-5381904CDCB5}" srcOrd="1" destOrd="0" presId="urn:microsoft.com/office/officeart/2008/layout/LinedList"/>
    <dgm:cxn modelId="{78C80723-8AC6-9842-87F6-88A613F29610}" type="presParOf" srcId="{B40B11F2-C70F-42D3-A5C3-38EC915907F8}" destId="{53226C76-B37D-6740-919E-8720E2E0FB62}" srcOrd="8" destOrd="0" presId="urn:microsoft.com/office/officeart/2008/layout/LinedList"/>
    <dgm:cxn modelId="{E4B33FC3-ED25-5C47-8433-100BC3C734C1}" type="presParOf" srcId="{B40B11F2-C70F-42D3-A5C3-38EC915907F8}" destId="{B60656FF-56D2-1741-96F2-BF0E5BA9E377}" srcOrd="9" destOrd="0" presId="urn:microsoft.com/office/officeart/2008/layout/LinedList"/>
    <dgm:cxn modelId="{5D3BCF84-AB9F-C74D-8C2C-31ABD9BAA07B}" type="presParOf" srcId="{B60656FF-56D2-1741-96F2-BF0E5BA9E377}" destId="{33015954-E25F-9843-95F0-6FE3865AB1AA}" srcOrd="0" destOrd="0" presId="urn:microsoft.com/office/officeart/2008/layout/LinedList"/>
    <dgm:cxn modelId="{101FF817-FC03-8C41-9A7B-18F9BD2E21EF}" type="presParOf" srcId="{B60656FF-56D2-1741-96F2-BF0E5BA9E377}" destId="{0AD047D4-DB71-754C-9F4A-DB21A4ED9D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511BB1-ECD5-E541-8D1A-5F0FEA777D7F}" type="doc">
      <dgm:prSet loTypeId="urn:microsoft.com/office/officeart/2005/8/layout/process1" loCatId="" qsTypeId="urn:microsoft.com/office/officeart/2005/8/quickstyle/simple1" qsCatId="simple" csTypeId="urn:microsoft.com/office/officeart/2005/8/colors/accent0_3" csCatId="mainScheme" phldr="1"/>
      <dgm:spPr/>
    </dgm:pt>
    <dgm:pt modelId="{29717E32-AE9E-EB47-9574-7CB5766F79AC}">
      <dgm:prSet phldrT="[Text]" custT="1"/>
      <dgm:spPr/>
      <dgm:t>
        <a:bodyPr/>
        <a:lstStyle/>
        <a:p>
          <a:r>
            <a:rPr lang="en-US" sz="2800" dirty="0"/>
            <a:t>Issues and Ideas</a:t>
          </a:r>
        </a:p>
      </dgm:t>
    </dgm:pt>
    <dgm:pt modelId="{1BB43502-B040-6040-841B-0DD0909721A9}" type="parTrans" cxnId="{A9AF77E0-1FE9-B649-B118-4C1418B0E704}">
      <dgm:prSet/>
      <dgm:spPr/>
      <dgm:t>
        <a:bodyPr/>
        <a:lstStyle/>
        <a:p>
          <a:endParaRPr lang="en-US"/>
        </a:p>
      </dgm:t>
    </dgm:pt>
    <dgm:pt modelId="{35ABDC9C-DF61-F340-8E50-A7D3146DCED6}" type="sibTrans" cxnId="{A9AF77E0-1FE9-B649-B118-4C1418B0E704}">
      <dgm:prSet/>
      <dgm:spPr/>
      <dgm:t>
        <a:bodyPr/>
        <a:lstStyle/>
        <a:p>
          <a:endParaRPr lang="en-US"/>
        </a:p>
      </dgm:t>
    </dgm:pt>
    <dgm:pt modelId="{E9413C1F-A2E9-674A-A663-8C98143AB6BC}">
      <dgm:prSet phldrT="[Text]" custT="1"/>
      <dgm:spPr/>
      <dgm:t>
        <a:bodyPr/>
        <a:lstStyle/>
        <a:p>
          <a:r>
            <a:rPr lang="en-US" sz="2800" dirty="0"/>
            <a:t>Belief systems</a:t>
          </a:r>
        </a:p>
      </dgm:t>
    </dgm:pt>
    <dgm:pt modelId="{363C2397-C27B-7742-BBC8-23BC14762F88}" type="parTrans" cxnId="{FB88CBCA-1D1A-254F-9748-7BC1EB5037F4}">
      <dgm:prSet/>
      <dgm:spPr/>
      <dgm:t>
        <a:bodyPr/>
        <a:lstStyle/>
        <a:p>
          <a:endParaRPr lang="en-US"/>
        </a:p>
      </dgm:t>
    </dgm:pt>
    <dgm:pt modelId="{75372321-C659-774A-994F-780397790285}" type="sibTrans" cxnId="{FB88CBCA-1D1A-254F-9748-7BC1EB5037F4}">
      <dgm:prSet/>
      <dgm:spPr/>
      <dgm:t>
        <a:bodyPr/>
        <a:lstStyle/>
        <a:p>
          <a:endParaRPr lang="en-US"/>
        </a:p>
      </dgm:t>
    </dgm:pt>
    <dgm:pt modelId="{D46692DC-B5A2-EE47-9626-239F24BBFC4C}">
      <dgm:prSet phldrT="[Text]" custT="1"/>
      <dgm:spPr/>
      <dgm:t>
        <a:bodyPr/>
        <a:lstStyle/>
        <a:p>
          <a:r>
            <a:rPr lang="en-US" sz="2800" dirty="0"/>
            <a:t>Political Actors</a:t>
          </a:r>
        </a:p>
      </dgm:t>
    </dgm:pt>
    <dgm:pt modelId="{41306F2B-CF1E-6440-9C6B-54A45148B640}" type="parTrans" cxnId="{21537800-7EE7-604B-BDA8-7B5FAE7C2399}">
      <dgm:prSet/>
      <dgm:spPr/>
      <dgm:t>
        <a:bodyPr/>
        <a:lstStyle/>
        <a:p>
          <a:endParaRPr lang="en-US"/>
        </a:p>
      </dgm:t>
    </dgm:pt>
    <dgm:pt modelId="{AA4C3E21-D03B-D84C-8E21-0589F20A2BBB}" type="sibTrans" cxnId="{21537800-7EE7-604B-BDA8-7B5FAE7C2399}">
      <dgm:prSet/>
      <dgm:spPr/>
      <dgm:t>
        <a:bodyPr/>
        <a:lstStyle/>
        <a:p>
          <a:endParaRPr lang="en-US"/>
        </a:p>
      </dgm:t>
    </dgm:pt>
    <dgm:pt modelId="{C7BB61E6-0D7C-954E-A8A4-A0A7C44157E4}" type="pres">
      <dgm:prSet presAssocID="{77511BB1-ECD5-E541-8D1A-5F0FEA777D7F}" presName="Name0" presStyleCnt="0">
        <dgm:presLayoutVars>
          <dgm:dir/>
          <dgm:resizeHandles val="exact"/>
        </dgm:presLayoutVars>
      </dgm:prSet>
      <dgm:spPr/>
    </dgm:pt>
    <dgm:pt modelId="{FFC08C37-E527-0748-AC8C-C4E85E30E2AF}" type="pres">
      <dgm:prSet presAssocID="{29717E32-AE9E-EB47-9574-7CB5766F79AC}" presName="node" presStyleLbl="node1" presStyleIdx="0" presStyleCnt="3">
        <dgm:presLayoutVars>
          <dgm:bulletEnabled val="1"/>
        </dgm:presLayoutVars>
      </dgm:prSet>
      <dgm:spPr/>
    </dgm:pt>
    <dgm:pt modelId="{7D882609-FB8D-A344-A234-3B9EBF608F1D}" type="pres">
      <dgm:prSet presAssocID="{35ABDC9C-DF61-F340-8E50-A7D3146DCED6}" presName="sibTrans" presStyleLbl="sibTrans2D1" presStyleIdx="0" presStyleCnt="2"/>
      <dgm:spPr/>
    </dgm:pt>
    <dgm:pt modelId="{14246DCA-B601-6B46-823D-282892A7FA0A}" type="pres">
      <dgm:prSet presAssocID="{35ABDC9C-DF61-F340-8E50-A7D3146DCED6}" presName="connectorText" presStyleLbl="sibTrans2D1" presStyleIdx="0" presStyleCnt="2"/>
      <dgm:spPr/>
    </dgm:pt>
    <dgm:pt modelId="{51B60DD9-528C-154E-A326-18CD12164E12}" type="pres">
      <dgm:prSet presAssocID="{E9413C1F-A2E9-674A-A663-8C98143AB6BC}" presName="node" presStyleLbl="node1" presStyleIdx="1" presStyleCnt="3">
        <dgm:presLayoutVars>
          <dgm:bulletEnabled val="1"/>
        </dgm:presLayoutVars>
      </dgm:prSet>
      <dgm:spPr/>
    </dgm:pt>
    <dgm:pt modelId="{057C9B44-AD01-B641-8CD1-3A394D7CD6A9}" type="pres">
      <dgm:prSet presAssocID="{75372321-C659-774A-994F-780397790285}" presName="sibTrans" presStyleLbl="sibTrans2D1" presStyleIdx="1" presStyleCnt="2"/>
      <dgm:spPr/>
    </dgm:pt>
    <dgm:pt modelId="{7B215E31-21B9-5F4B-9839-7E91C3AC2FA9}" type="pres">
      <dgm:prSet presAssocID="{75372321-C659-774A-994F-780397790285}" presName="connectorText" presStyleLbl="sibTrans2D1" presStyleIdx="1" presStyleCnt="2"/>
      <dgm:spPr/>
    </dgm:pt>
    <dgm:pt modelId="{E2EBFC76-7CBF-164A-9648-1033EAE29560}" type="pres">
      <dgm:prSet presAssocID="{D46692DC-B5A2-EE47-9626-239F24BBFC4C}" presName="node" presStyleLbl="node1" presStyleIdx="2" presStyleCnt="3">
        <dgm:presLayoutVars>
          <dgm:bulletEnabled val="1"/>
        </dgm:presLayoutVars>
      </dgm:prSet>
      <dgm:spPr/>
    </dgm:pt>
  </dgm:ptLst>
  <dgm:cxnLst>
    <dgm:cxn modelId="{21537800-7EE7-604B-BDA8-7B5FAE7C2399}" srcId="{77511BB1-ECD5-E541-8D1A-5F0FEA777D7F}" destId="{D46692DC-B5A2-EE47-9626-239F24BBFC4C}" srcOrd="2" destOrd="0" parTransId="{41306F2B-CF1E-6440-9C6B-54A45148B640}" sibTransId="{AA4C3E21-D03B-D84C-8E21-0589F20A2BBB}"/>
    <dgm:cxn modelId="{7E8C1552-2508-C74B-B149-25E7781A9A1E}" type="presOf" srcId="{35ABDC9C-DF61-F340-8E50-A7D3146DCED6}" destId="{14246DCA-B601-6B46-823D-282892A7FA0A}" srcOrd="1" destOrd="0" presId="urn:microsoft.com/office/officeart/2005/8/layout/process1"/>
    <dgm:cxn modelId="{07658162-CDAD-AE4A-9F19-7408B326151C}" type="presOf" srcId="{77511BB1-ECD5-E541-8D1A-5F0FEA777D7F}" destId="{C7BB61E6-0D7C-954E-A8A4-A0A7C44157E4}" srcOrd="0" destOrd="0" presId="urn:microsoft.com/office/officeart/2005/8/layout/process1"/>
    <dgm:cxn modelId="{0AF3ED7C-9482-414A-B2B0-1C5BBAEE27EF}" type="presOf" srcId="{35ABDC9C-DF61-F340-8E50-A7D3146DCED6}" destId="{7D882609-FB8D-A344-A234-3B9EBF608F1D}" srcOrd="0" destOrd="0" presId="urn:microsoft.com/office/officeart/2005/8/layout/process1"/>
    <dgm:cxn modelId="{C863A080-A47D-EE41-B518-A87935711FFD}" type="presOf" srcId="{29717E32-AE9E-EB47-9574-7CB5766F79AC}" destId="{FFC08C37-E527-0748-AC8C-C4E85E30E2AF}" srcOrd="0" destOrd="0" presId="urn:microsoft.com/office/officeart/2005/8/layout/process1"/>
    <dgm:cxn modelId="{FA68F5C0-CAD4-304E-90D1-F5E1CB0818A8}" type="presOf" srcId="{E9413C1F-A2E9-674A-A663-8C98143AB6BC}" destId="{51B60DD9-528C-154E-A326-18CD12164E12}" srcOrd="0" destOrd="0" presId="urn:microsoft.com/office/officeart/2005/8/layout/process1"/>
    <dgm:cxn modelId="{FB88CBCA-1D1A-254F-9748-7BC1EB5037F4}" srcId="{77511BB1-ECD5-E541-8D1A-5F0FEA777D7F}" destId="{E9413C1F-A2E9-674A-A663-8C98143AB6BC}" srcOrd="1" destOrd="0" parTransId="{363C2397-C27B-7742-BBC8-23BC14762F88}" sibTransId="{75372321-C659-774A-994F-780397790285}"/>
    <dgm:cxn modelId="{8D83F7DC-67A2-8B4B-9ACC-2DE7C6AC32EA}" type="presOf" srcId="{D46692DC-B5A2-EE47-9626-239F24BBFC4C}" destId="{E2EBFC76-7CBF-164A-9648-1033EAE29560}" srcOrd="0" destOrd="0" presId="urn:microsoft.com/office/officeart/2005/8/layout/process1"/>
    <dgm:cxn modelId="{A9AF77E0-1FE9-B649-B118-4C1418B0E704}" srcId="{77511BB1-ECD5-E541-8D1A-5F0FEA777D7F}" destId="{29717E32-AE9E-EB47-9574-7CB5766F79AC}" srcOrd="0" destOrd="0" parTransId="{1BB43502-B040-6040-841B-0DD0909721A9}" sibTransId="{35ABDC9C-DF61-F340-8E50-A7D3146DCED6}"/>
    <dgm:cxn modelId="{3C5A42F0-B6C3-034F-8116-18A3C4C0559E}" type="presOf" srcId="{75372321-C659-774A-994F-780397790285}" destId="{7B215E31-21B9-5F4B-9839-7E91C3AC2FA9}" srcOrd="1" destOrd="0" presId="urn:microsoft.com/office/officeart/2005/8/layout/process1"/>
    <dgm:cxn modelId="{A63E55F6-2952-B14E-B676-9ED23DD97B4C}" type="presOf" srcId="{75372321-C659-774A-994F-780397790285}" destId="{057C9B44-AD01-B641-8CD1-3A394D7CD6A9}" srcOrd="0" destOrd="0" presId="urn:microsoft.com/office/officeart/2005/8/layout/process1"/>
    <dgm:cxn modelId="{B07FA07B-F6FE-F74C-A1F4-5F5C3D0659AE}" type="presParOf" srcId="{C7BB61E6-0D7C-954E-A8A4-A0A7C44157E4}" destId="{FFC08C37-E527-0748-AC8C-C4E85E30E2AF}" srcOrd="0" destOrd="0" presId="urn:microsoft.com/office/officeart/2005/8/layout/process1"/>
    <dgm:cxn modelId="{81C73D42-D942-8B44-A982-84F34A16543C}" type="presParOf" srcId="{C7BB61E6-0D7C-954E-A8A4-A0A7C44157E4}" destId="{7D882609-FB8D-A344-A234-3B9EBF608F1D}" srcOrd="1" destOrd="0" presId="urn:microsoft.com/office/officeart/2005/8/layout/process1"/>
    <dgm:cxn modelId="{177B6E34-8513-F44E-8FD5-B69139F8C6F0}" type="presParOf" srcId="{7D882609-FB8D-A344-A234-3B9EBF608F1D}" destId="{14246DCA-B601-6B46-823D-282892A7FA0A}" srcOrd="0" destOrd="0" presId="urn:microsoft.com/office/officeart/2005/8/layout/process1"/>
    <dgm:cxn modelId="{6DE3178F-2009-CB41-91A3-DDBDCF6B62E6}" type="presParOf" srcId="{C7BB61E6-0D7C-954E-A8A4-A0A7C44157E4}" destId="{51B60DD9-528C-154E-A326-18CD12164E12}" srcOrd="2" destOrd="0" presId="urn:microsoft.com/office/officeart/2005/8/layout/process1"/>
    <dgm:cxn modelId="{640AB3E2-327D-9249-B54F-DA12C8571089}" type="presParOf" srcId="{C7BB61E6-0D7C-954E-A8A4-A0A7C44157E4}" destId="{057C9B44-AD01-B641-8CD1-3A394D7CD6A9}" srcOrd="3" destOrd="0" presId="urn:microsoft.com/office/officeart/2005/8/layout/process1"/>
    <dgm:cxn modelId="{FA986ECF-5A0E-6540-AE09-7F6BBA94EF9F}" type="presParOf" srcId="{057C9B44-AD01-B641-8CD1-3A394D7CD6A9}" destId="{7B215E31-21B9-5F4B-9839-7E91C3AC2FA9}" srcOrd="0" destOrd="0" presId="urn:microsoft.com/office/officeart/2005/8/layout/process1"/>
    <dgm:cxn modelId="{6B65F177-2E6A-9D4E-A6BB-D65CD85A9042}" type="presParOf" srcId="{C7BB61E6-0D7C-954E-A8A4-A0A7C44157E4}" destId="{E2EBFC76-7CBF-164A-9648-1033EAE2956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F6F0F9-6B33-6645-BE6F-B7C9AFAAD20E}" type="doc">
      <dgm:prSet loTypeId="urn:microsoft.com/office/officeart/2005/8/layout/hierarchy1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8B7124F-C1F7-4849-B5D3-8FF6A3D4DF45}">
      <dgm:prSet phldrT="[Text]" custT="1"/>
      <dgm:spPr/>
      <dgm:t>
        <a:bodyPr/>
        <a:lstStyle/>
        <a:p>
          <a:r>
            <a:rPr lang="en-US" sz="1800" dirty="0"/>
            <a:t>Support Military Aid to Ukraine</a:t>
          </a:r>
        </a:p>
      </dgm:t>
    </dgm:pt>
    <dgm:pt modelId="{242833AD-FA4F-E345-A298-A74596600DF3}" type="parTrans" cxnId="{B22BB7CF-6481-8141-BF42-559233A065DE}">
      <dgm:prSet/>
      <dgm:spPr/>
      <dgm:t>
        <a:bodyPr/>
        <a:lstStyle/>
        <a:p>
          <a:endParaRPr lang="en-US"/>
        </a:p>
      </dgm:t>
    </dgm:pt>
    <dgm:pt modelId="{04E98DE0-A5F1-B944-8C08-EECA8C6DF274}" type="sibTrans" cxnId="{B22BB7CF-6481-8141-BF42-559233A065DE}">
      <dgm:prSet/>
      <dgm:spPr/>
      <dgm:t>
        <a:bodyPr/>
        <a:lstStyle/>
        <a:p>
          <a:endParaRPr lang="en-US"/>
        </a:p>
      </dgm:t>
    </dgm:pt>
    <dgm:pt modelId="{575B087D-992B-3A4F-9960-F8A510597542}">
      <dgm:prSet phldrT="[Text]"/>
      <dgm:spPr/>
      <dgm:t>
        <a:bodyPr/>
        <a:lstStyle/>
        <a:p>
          <a:r>
            <a:rPr lang="en-US" dirty="0"/>
            <a:t>European Countries should invest in trade and diplomacy</a:t>
          </a:r>
        </a:p>
      </dgm:t>
    </dgm:pt>
    <dgm:pt modelId="{13B92AAE-2F91-9441-9BFD-C981A74D2C4B}" type="parTrans" cxnId="{6B3F9667-B7AD-5D4B-B758-C997F4236EEA}">
      <dgm:prSet/>
      <dgm:spPr/>
      <dgm:t>
        <a:bodyPr/>
        <a:lstStyle/>
        <a:p>
          <a:endParaRPr lang="en-US"/>
        </a:p>
      </dgm:t>
    </dgm:pt>
    <dgm:pt modelId="{0835E3E7-3962-E142-8433-68A1C23ABA75}" type="sibTrans" cxnId="{6B3F9667-B7AD-5D4B-B758-C997F4236EEA}">
      <dgm:prSet/>
      <dgm:spPr/>
      <dgm:t>
        <a:bodyPr/>
        <a:lstStyle/>
        <a:p>
          <a:endParaRPr lang="en-US"/>
        </a:p>
      </dgm:t>
    </dgm:pt>
    <dgm:pt modelId="{D8232842-5868-DF4B-92D1-49927CB4ED99}">
      <dgm:prSet phldrT="[Text]"/>
      <dgm:spPr/>
      <dgm:t>
        <a:bodyPr/>
        <a:lstStyle/>
        <a:p>
          <a:r>
            <a:rPr lang="en-US" b="1" dirty="0"/>
            <a:t>Domestic Distracted</a:t>
          </a:r>
        </a:p>
      </dgm:t>
    </dgm:pt>
    <dgm:pt modelId="{49C3611A-BB55-7746-95FA-65D7FF20A2DE}" type="parTrans" cxnId="{B863C4D7-DB9B-B64A-AEC0-421F28A90D40}">
      <dgm:prSet/>
      <dgm:spPr/>
      <dgm:t>
        <a:bodyPr/>
        <a:lstStyle/>
        <a:p>
          <a:endParaRPr lang="en-US"/>
        </a:p>
      </dgm:t>
    </dgm:pt>
    <dgm:pt modelId="{026B97C7-441D-E14B-962E-8002D18FC0EF}" type="sibTrans" cxnId="{B863C4D7-DB9B-B64A-AEC0-421F28A90D40}">
      <dgm:prSet/>
      <dgm:spPr/>
      <dgm:t>
        <a:bodyPr/>
        <a:lstStyle/>
        <a:p>
          <a:endParaRPr lang="en-US"/>
        </a:p>
      </dgm:t>
    </dgm:pt>
    <dgm:pt modelId="{86A6CF2D-037F-C04E-9809-493625831DFF}">
      <dgm:prSet phldrT="[Text]"/>
      <dgm:spPr/>
      <dgm:t>
        <a:bodyPr/>
        <a:lstStyle/>
        <a:p>
          <a:r>
            <a:rPr lang="en-US" b="1" dirty="0"/>
            <a:t>Russian Collaborator</a:t>
          </a:r>
        </a:p>
      </dgm:t>
    </dgm:pt>
    <dgm:pt modelId="{5313F6C7-9656-0140-9711-B93AFCE6D110}" type="parTrans" cxnId="{FEF30557-18A4-914C-9DBB-51843CCD7890}">
      <dgm:prSet/>
      <dgm:spPr/>
      <dgm:t>
        <a:bodyPr/>
        <a:lstStyle/>
        <a:p>
          <a:endParaRPr lang="en-US"/>
        </a:p>
      </dgm:t>
    </dgm:pt>
    <dgm:pt modelId="{E87466F7-DBC5-2E48-AA7D-30C60DA30D96}" type="sibTrans" cxnId="{FEF30557-18A4-914C-9DBB-51843CCD7890}">
      <dgm:prSet/>
      <dgm:spPr/>
      <dgm:t>
        <a:bodyPr/>
        <a:lstStyle/>
        <a:p>
          <a:endParaRPr lang="en-US"/>
        </a:p>
      </dgm:t>
    </dgm:pt>
    <dgm:pt modelId="{CB3015D2-E9B4-DC46-B423-C6102EC252B7}">
      <dgm:prSet phldrT="[Text]"/>
      <dgm:spPr/>
      <dgm:t>
        <a:bodyPr/>
        <a:lstStyle/>
        <a:p>
          <a:r>
            <a:rPr lang="en-US" dirty="0"/>
            <a:t>Willing to Accept Higher Energy Costs</a:t>
          </a:r>
        </a:p>
      </dgm:t>
    </dgm:pt>
    <dgm:pt modelId="{A3EECF58-7674-5049-8B51-2A52AF8B77CE}" type="parTrans" cxnId="{DC87FD55-5FBF-A141-9A8B-F541DEC18883}">
      <dgm:prSet/>
      <dgm:spPr/>
      <dgm:t>
        <a:bodyPr/>
        <a:lstStyle/>
        <a:p>
          <a:endParaRPr lang="en-US"/>
        </a:p>
      </dgm:t>
    </dgm:pt>
    <dgm:pt modelId="{7BA538B5-1B13-324F-8796-7A21E39DA971}" type="sibTrans" cxnId="{DC87FD55-5FBF-A141-9A8B-F541DEC18883}">
      <dgm:prSet/>
      <dgm:spPr/>
      <dgm:t>
        <a:bodyPr/>
        <a:lstStyle/>
        <a:p>
          <a:endParaRPr lang="en-US"/>
        </a:p>
      </dgm:t>
    </dgm:pt>
    <dgm:pt modelId="{1B4A3FD8-319C-3F4B-80CD-B11B86BF988C}">
      <dgm:prSet phldrT="[Text]"/>
      <dgm:spPr/>
      <dgm:t>
        <a:bodyPr/>
        <a:lstStyle/>
        <a:p>
          <a:r>
            <a:rPr lang="en-US" b="1" dirty="0"/>
            <a:t>Conditional Ukraine Support</a:t>
          </a:r>
        </a:p>
      </dgm:t>
    </dgm:pt>
    <dgm:pt modelId="{E8E66DD2-52E5-1242-8C20-349470E72BDB}" type="parTrans" cxnId="{60F138DC-6118-9E49-97AB-1844BCF0542A}">
      <dgm:prSet/>
      <dgm:spPr/>
      <dgm:t>
        <a:bodyPr/>
        <a:lstStyle/>
        <a:p>
          <a:endParaRPr lang="en-US"/>
        </a:p>
      </dgm:t>
    </dgm:pt>
    <dgm:pt modelId="{4EBBCDF4-D917-D542-A0BC-B79CBDC5AD22}" type="sibTrans" cxnId="{60F138DC-6118-9E49-97AB-1844BCF0542A}">
      <dgm:prSet/>
      <dgm:spPr/>
      <dgm:t>
        <a:bodyPr/>
        <a:lstStyle/>
        <a:p>
          <a:endParaRPr lang="en-US"/>
        </a:p>
      </dgm:t>
    </dgm:pt>
    <dgm:pt modelId="{C00FE82D-CAF8-BA43-9F22-61F6BF90FA16}">
      <dgm:prSet/>
      <dgm:spPr/>
      <dgm:t>
        <a:bodyPr/>
        <a:lstStyle/>
        <a:p>
          <a:r>
            <a:rPr lang="en-CA" noProof="1"/>
            <a:t>European countries should invest in defence and security</a:t>
          </a:r>
        </a:p>
      </dgm:t>
    </dgm:pt>
    <dgm:pt modelId="{F9B47122-455A-BA42-B77F-404232D84572}" type="parTrans" cxnId="{597F8F81-F2AC-1447-B530-78DE63F3CF84}">
      <dgm:prSet/>
      <dgm:spPr/>
      <dgm:t>
        <a:bodyPr/>
        <a:lstStyle/>
        <a:p>
          <a:endParaRPr lang="en-US"/>
        </a:p>
      </dgm:t>
    </dgm:pt>
    <dgm:pt modelId="{D6E53C5D-4EBA-404C-9024-1A931BBB29B5}" type="sibTrans" cxnId="{597F8F81-F2AC-1447-B530-78DE63F3CF84}">
      <dgm:prSet/>
      <dgm:spPr/>
      <dgm:t>
        <a:bodyPr/>
        <a:lstStyle/>
        <a:p>
          <a:endParaRPr lang="en-US"/>
        </a:p>
      </dgm:t>
    </dgm:pt>
    <dgm:pt modelId="{34A8A8B8-CE1D-2B47-9213-5AAA5728D59F}">
      <dgm:prSet/>
      <dgm:spPr/>
      <dgm:t>
        <a:bodyPr/>
        <a:lstStyle/>
        <a:p>
          <a:r>
            <a:rPr lang="en-US" b="1" dirty="0"/>
            <a:t>Domestic Distracted</a:t>
          </a:r>
        </a:p>
      </dgm:t>
    </dgm:pt>
    <dgm:pt modelId="{9312324F-3596-2A47-9527-BD1071BBEE5D}" type="parTrans" cxnId="{D70F1F77-C6D8-7245-B3F1-3B9C8FCBD251}">
      <dgm:prSet/>
      <dgm:spPr/>
      <dgm:t>
        <a:bodyPr/>
        <a:lstStyle/>
        <a:p>
          <a:endParaRPr lang="en-US"/>
        </a:p>
      </dgm:t>
    </dgm:pt>
    <dgm:pt modelId="{1CEE3C02-EAE7-8042-9AFC-29E4A4AAE099}" type="sibTrans" cxnId="{D70F1F77-C6D8-7245-B3F1-3B9C8FCBD251}">
      <dgm:prSet/>
      <dgm:spPr/>
      <dgm:t>
        <a:bodyPr/>
        <a:lstStyle/>
        <a:p>
          <a:endParaRPr lang="en-US"/>
        </a:p>
      </dgm:t>
    </dgm:pt>
    <dgm:pt modelId="{B3F6F7F5-22C1-514C-BE19-9E7000502AC8}">
      <dgm:prSet/>
      <dgm:spPr/>
      <dgm:t>
        <a:bodyPr/>
        <a:lstStyle/>
        <a:p>
          <a:r>
            <a:rPr lang="en-US" b="1" dirty="0"/>
            <a:t>Security Focused</a:t>
          </a:r>
        </a:p>
      </dgm:t>
    </dgm:pt>
    <dgm:pt modelId="{B827E42C-E46B-674C-98FF-91AE57ACE5B3}" type="parTrans" cxnId="{644A5B4A-3901-4F4D-A41F-3860B92A527A}">
      <dgm:prSet/>
      <dgm:spPr/>
      <dgm:t>
        <a:bodyPr/>
        <a:lstStyle/>
        <a:p>
          <a:endParaRPr lang="en-US"/>
        </a:p>
      </dgm:t>
    </dgm:pt>
    <dgm:pt modelId="{C0224A7F-EBA6-474F-9749-EB8F747C2D2C}" type="sibTrans" cxnId="{644A5B4A-3901-4F4D-A41F-3860B92A527A}">
      <dgm:prSet/>
      <dgm:spPr/>
      <dgm:t>
        <a:bodyPr/>
        <a:lstStyle/>
        <a:p>
          <a:endParaRPr lang="en-US"/>
        </a:p>
      </dgm:t>
    </dgm:pt>
    <dgm:pt modelId="{FB073C9D-1D77-2E46-BFE3-7AAADFA1A2D9}" type="pres">
      <dgm:prSet presAssocID="{C7F6F0F9-6B33-6645-BE6F-B7C9AFAAD2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11DF853-2BD3-5748-AA1F-B44EF7D8E538}" type="pres">
      <dgm:prSet presAssocID="{78B7124F-C1F7-4849-B5D3-8FF6A3D4DF45}" presName="hierRoot1" presStyleCnt="0"/>
      <dgm:spPr/>
    </dgm:pt>
    <dgm:pt modelId="{1DECDE42-5FBB-DF48-9C62-AB85E5CFF520}" type="pres">
      <dgm:prSet presAssocID="{78B7124F-C1F7-4849-B5D3-8FF6A3D4DF45}" presName="composite" presStyleCnt="0"/>
      <dgm:spPr/>
    </dgm:pt>
    <dgm:pt modelId="{BD2927E7-1A47-E449-80F6-A4DBF9CC646A}" type="pres">
      <dgm:prSet presAssocID="{78B7124F-C1F7-4849-B5D3-8FF6A3D4DF45}" presName="background" presStyleLbl="node0" presStyleIdx="0" presStyleCnt="1"/>
      <dgm:spPr/>
    </dgm:pt>
    <dgm:pt modelId="{91469362-FA56-E949-BE4F-8CFC9F80FE50}" type="pres">
      <dgm:prSet presAssocID="{78B7124F-C1F7-4849-B5D3-8FF6A3D4DF45}" presName="text" presStyleLbl="fgAcc0" presStyleIdx="0" presStyleCnt="1">
        <dgm:presLayoutVars>
          <dgm:chPref val="3"/>
        </dgm:presLayoutVars>
      </dgm:prSet>
      <dgm:spPr/>
    </dgm:pt>
    <dgm:pt modelId="{FA8A5361-3909-0C4C-B4AB-B2B1B213D9DA}" type="pres">
      <dgm:prSet presAssocID="{78B7124F-C1F7-4849-B5D3-8FF6A3D4DF45}" presName="hierChild2" presStyleCnt="0"/>
      <dgm:spPr/>
    </dgm:pt>
    <dgm:pt modelId="{A8F7C821-52B6-CE4B-B77C-23A0DA5207E9}" type="pres">
      <dgm:prSet presAssocID="{13B92AAE-2F91-9441-9BFD-C981A74D2C4B}" presName="Name10" presStyleLbl="parChTrans1D2" presStyleIdx="0" presStyleCnt="2"/>
      <dgm:spPr/>
    </dgm:pt>
    <dgm:pt modelId="{2F33C354-2494-E843-9D26-D13647671B4F}" type="pres">
      <dgm:prSet presAssocID="{575B087D-992B-3A4F-9960-F8A510597542}" presName="hierRoot2" presStyleCnt="0"/>
      <dgm:spPr/>
    </dgm:pt>
    <dgm:pt modelId="{8F9E85D2-54B7-C341-AE33-FC1C14AADE4D}" type="pres">
      <dgm:prSet presAssocID="{575B087D-992B-3A4F-9960-F8A510597542}" presName="composite2" presStyleCnt="0"/>
      <dgm:spPr/>
    </dgm:pt>
    <dgm:pt modelId="{89991F47-0DFF-214A-8349-3279F905A25D}" type="pres">
      <dgm:prSet presAssocID="{575B087D-992B-3A4F-9960-F8A510597542}" presName="background2" presStyleLbl="node2" presStyleIdx="0" presStyleCnt="2"/>
      <dgm:spPr/>
    </dgm:pt>
    <dgm:pt modelId="{A838212C-886C-3B45-82C8-753C27B8D403}" type="pres">
      <dgm:prSet presAssocID="{575B087D-992B-3A4F-9960-F8A510597542}" presName="text2" presStyleLbl="fgAcc2" presStyleIdx="0" presStyleCnt="2">
        <dgm:presLayoutVars>
          <dgm:chPref val="3"/>
        </dgm:presLayoutVars>
      </dgm:prSet>
      <dgm:spPr/>
    </dgm:pt>
    <dgm:pt modelId="{4A4027F6-5587-DC41-A49C-18DC78FCD7CB}" type="pres">
      <dgm:prSet presAssocID="{575B087D-992B-3A4F-9960-F8A510597542}" presName="hierChild3" presStyleCnt="0"/>
      <dgm:spPr/>
    </dgm:pt>
    <dgm:pt modelId="{3064E708-EFF8-C043-BCF3-AEC8D507399C}" type="pres">
      <dgm:prSet presAssocID="{49C3611A-BB55-7746-95FA-65D7FF20A2DE}" presName="Name17" presStyleLbl="parChTrans1D3" presStyleIdx="0" presStyleCnt="4"/>
      <dgm:spPr/>
    </dgm:pt>
    <dgm:pt modelId="{754A04D1-95F3-DF47-A69A-5EC7DDB8E3D9}" type="pres">
      <dgm:prSet presAssocID="{D8232842-5868-DF4B-92D1-49927CB4ED99}" presName="hierRoot3" presStyleCnt="0"/>
      <dgm:spPr/>
    </dgm:pt>
    <dgm:pt modelId="{C21E8427-C66F-A049-B26E-DE5DD52F070C}" type="pres">
      <dgm:prSet presAssocID="{D8232842-5868-DF4B-92D1-49927CB4ED99}" presName="composite3" presStyleCnt="0"/>
      <dgm:spPr/>
    </dgm:pt>
    <dgm:pt modelId="{6E0D019E-C0CD-3443-9BF0-89D13D5E8982}" type="pres">
      <dgm:prSet presAssocID="{D8232842-5868-DF4B-92D1-49927CB4ED99}" presName="background3" presStyleLbl="node3" presStyleIdx="0" presStyleCnt="4"/>
      <dgm:spPr/>
    </dgm:pt>
    <dgm:pt modelId="{AC8D7A22-D83E-8943-9431-954A5C2CFE9F}" type="pres">
      <dgm:prSet presAssocID="{D8232842-5868-DF4B-92D1-49927CB4ED99}" presName="text3" presStyleLbl="fgAcc3" presStyleIdx="0" presStyleCnt="4">
        <dgm:presLayoutVars>
          <dgm:chPref val="3"/>
        </dgm:presLayoutVars>
      </dgm:prSet>
      <dgm:spPr/>
    </dgm:pt>
    <dgm:pt modelId="{4214365C-0BFE-DF4E-974B-6D09EBECF81A}" type="pres">
      <dgm:prSet presAssocID="{D8232842-5868-DF4B-92D1-49927CB4ED99}" presName="hierChild4" presStyleCnt="0"/>
      <dgm:spPr/>
    </dgm:pt>
    <dgm:pt modelId="{6EE4AAB1-3B5D-054E-ACE7-BC36D48941DB}" type="pres">
      <dgm:prSet presAssocID="{5313F6C7-9656-0140-9711-B93AFCE6D110}" presName="Name17" presStyleLbl="parChTrans1D3" presStyleIdx="1" presStyleCnt="4"/>
      <dgm:spPr/>
    </dgm:pt>
    <dgm:pt modelId="{9DA2F811-604E-2248-A202-506F81033389}" type="pres">
      <dgm:prSet presAssocID="{86A6CF2D-037F-C04E-9809-493625831DFF}" presName="hierRoot3" presStyleCnt="0"/>
      <dgm:spPr/>
    </dgm:pt>
    <dgm:pt modelId="{D053BE71-787A-9248-BD70-3D5089A4A5FC}" type="pres">
      <dgm:prSet presAssocID="{86A6CF2D-037F-C04E-9809-493625831DFF}" presName="composite3" presStyleCnt="0"/>
      <dgm:spPr/>
    </dgm:pt>
    <dgm:pt modelId="{C42F73EC-C811-BC43-8E8F-19883F870189}" type="pres">
      <dgm:prSet presAssocID="{86A6CF2D-037F-C04E-9809-493625831DFF}" presName="background3" presStyleLbl="node3" presStyleIdx="1" presStyleCnt="4"/>
      <dgm:spPr/>
    </dgm:pt>
    <dgm:pt modelId="{E77E0F5B-4D72-414F-8E53-3336FAD8614E}" type="pres">
      <dgm:prSet presAssocID="{86A6CF2D-037F-C04E-9809-493625831DFF}" presName="text3" presStyleLbl="fgAcc3" presStyleIdx="1" presStyleCnt="4">
        <dgm:presLayoutVars>
          <dgm:chPref val="3"/>
        </dgm:presLayoutVars>
      </dgm:prSet>
      <dgm:spPr/>
    </dgm:pt>
    <dgm:pt modelId="{A1BFF99E-DC1E-0043-A290-0FD8FDB67012}" type="pres">
      <dgm:prSet presAssocID="{86A6CF2D-037F-C04E-9809-493625831DFF}" presName="hierChild4" presStyleCnt="0"/>
      <dgm:spPr/>
    </dgm:pt>
    <dgm:pt modelId="{5FE0797E-06C2-7744-9CA8-FD7644F6E2B7}" type="pres">
      <dgm:prSet presAssocID="{A3EECF58-7674-5049-8B51-2A52AF8B77CE}" presName="Name10" presStyleLbl="parChTrans1D2" presStyleIdx="1" presStyleCnt="2"/>
      <dgm:spPr/>
    </dgm:pt>
    <dgm:pt modelId="{679A754B-C351-7F4C-B62C-10E3D4502306}" type="pres">
      <dgm:prSet presAssocID="{CB3015D2-E9B4-DC46-B423-C6102EC252B7}" presName="hierRoot2" presStyleCnt="0"/>
      <dgm:spPr/>
    </dgm:pt>
    <dgm:pt modelId="{3EC332F1-26CB-964E-9DB2-E8E5F917E554}" type="pres">
      <dgm:prSet presAssocID="{CB3015D2-E9B4-DC46-B423-C6102EC252B7}" presName="composite2" presStyleCnt="0"/>
      <dgm:spPr/>
    </dgm:pt>
    <dgm:pt modelId="{5B2B810C-6422-C84C-9C39-74682B350E55}" type="pres">
      <dgm:prSet presAssocID="{CB3015D2-E9B4-DC46-B423-C6102EC252B7}" presName="background2" presStyleLbl="node2" presStyleIdx="1" presStyleCnt="2"/>
      <dgm:spPr/>
    </dgm:pt>
    <dgm:pt modelId="{25D62D44-C585-A941-829E-69B3115E5DD8}" type="pres">
      <dgm:prSet presAssocID="{CB3015D2-E9B4-DC46-B423-C6102EC252B7}" presName="text2" presStyleLbl="fgAcc2" presStyleIdx="1" presStyleCnt="2">
        <dgm:presLayoutVars>
          <dgm:chPref val="3"/>
        </dgm:presLayoutVars>
      </dgm:prSet>
      <dgm:spPr/>
    </dgm:pt>
    <dgm:pt modelId="{FE0A4C03-7B73-5D49-9E71-1F80D877FC69}" type="pres">
      <dgm:prSet presAssocID="{CB3015D2-E9B4-DC46-B423-C6102EC252B7}" presName="hierChild3" presStyleCnt="0"/>
      <dgm:spPr/>
    </dgm:pt>
    <dgm:pt modelId="{88D7223F-0986-AA4A-B4F9-DB5291C40473}" type="pres">
      <dgm:prSet presAssocID="{E8E66DD2-52E5-1242-8C20-349470E72BDB}" presName="Name17" presStyleLbl="parChTrans1D3" presStyleIdx="2" presStyleCnt="4"/>
      <dgm:spPr/>
    </dgm:pt>
    <dgm:pt modelId="{CA132D81-7E11-304B-9D36-1BE7F4F64B2E}" type="pres">
      <dgm:prSet presAssocID="{1B4A3FD8-319C-3F4B-80CD-B11B86BF988C}" presName="hierRoot3" presStyleCnt="0"/>
      <dgm:spPr/>
    </dgm:pt>
    <dgm:pt modelId="{B5B95EF3-4A77-0C4B-AE4B-BB3158117ADC}" type="pres">
      <dgm:prSet presAssocID="{1B4A3FD8-319C-3F4B-80CD-B11B86BF988C}" presName="composite3" presStyleCnt="0"/>
      <dgm:spPr/>
    </dgm:pt>
    <dgm:pt modelId="{D074DEDB-D6BB-D248-9B88-0DD4FB370A5A}" type="pres">
      <dgm:prSet presAssocID="{1B4A3FD8-319C-3F4B-80CD-B11B86BF988C}" presName="background3" presStyleLbl="node3" presStyleIdx="2" presStyleCnt="4"/>
      <dgm:spPr/>
    </dgm:pt>
    <dgm:pt modelId="{0FFC00E6-006F-CC47-9889-0EC2F33761AF}" type="pres">
      <dgm:prSet presAssocID="{1B4A3FD8-319C-3F4B-80CD-B11B86BF988C}" presName="text3" presStyleLbl="fgAcc3" presStyleIdx="2" presStyleCnt="4">
        <dgm:presLayoutVars>
          <dgm:chPref val="3"/>
        </dgm:presLayoutVars>
      </dgm:prSet>
      <dgm:spPr/>
    </dgm:pt>
    <dgm:pt modelId="{003EAF58-5B71-4548-9B40-0876DFB567FA}" type="pres">
      <dgm:prSet presAssocID="{1B4A3FD8-319C-3F4B-80CD-B11B86BF988C}" presName="hierChild4" presStyleCnt="0"/>
      <dgm:spPr/>
    </dgm:pt>
    <dgm:pt modelId="{7B483686-49C9-9D49-8752-54CF82BC3946}" type="pres">
      <dgm:prSet presAssocID="{F9B47122-455A-BA42-B77F-404232D84572}" presName="Name17" presStyleLbl="parChTrans1D3" presStyleIdx="3" presStyleCnt="4"/>
      <dgm:spPr/>
    </dgm:pt>
    <dgm:pt modelId="{EB64ADE9-D872-124A-85A2-4075D63F4677}" type="pres">
      <dgm:prSet presAssocID="{C00FE82D-CAF8-BA43-9F22-61F6BF90FA16}" presName="hierRoot3" presStyleCnt="0"/>
      <dgm:spPr/>
    </dgm:pt>
    <dgm:pt modelId="{98F2F6FD-F80B-F14E-826D-93355FB7886D}" type="pres">
      <dgm:prSet presAssocID="{C00FE82D-CAF8-BA43-9F22-61F6BF90FA16}" presName="composite3" presStyleCnt="0"/>
      <dgm:spPr/>
    </dgm:pt>
    <dgm:pt modelId="{5E6F254A-0E12-D54C-B765-D55DD08B035D}" type="pres">
      <dgm:prSet presAssocID="{C00FE82D-CAF8-BA43-9F22-61F6BF90FA16}" presName="background3" presStyleLbl="node3" presStyleIdx="3" presStyleCnt="4"/>
      <dgm:spPr/>
    </dgm:pt>
    <dgm:pt modelId="{9947E7EF-E9C6-4747-B012-9FF30AB94B5E}" type="pres">
      <dgm:prSet presAssocID="{C00FE82D-CAF8-BA43-9F22-61F6BF90FA16}" presName="text3" presStyleLbl="fgAcc3" presStyleIdx="3" presStyleCnt="4">
        <dgm:presLayoutVars>
          <dgm:chPref val="3"/>
        </dgm:presLayoutVars>
      </dgm:prSet>
      <dgm:spPr/>
    </dgm:pt>
    <dgm:pt modelId="{EE73A80E-E4B6-3B44-9C7C-CCF4B897B10C}" type="pres">
      <dgm:prSet presAssocID="{C00FE82D-CAF8-BA43-9F22-61F6BF90FA16}" presName="hierChild4" presStyleCnt="0"/>
      <dgm:spPr/>
    </dgm:pt>
    <dgm:pt modelId="{1ACF773F-562C-594D-8F91-399B6AD2E582}" type="pres">
      <dgm:prSet presAssocID="{9312324F-3596-2A47-9527-BD1071BBEE5D}" presName="Name23" presStyleLbl="parChTrans1D4" presStyleIdx="0" presStyleCnt="2"/>
      <dgm:spPr/>
    </dgm:pt>
    <dgm:pt modelId="{5F0B8FC0-267B-8A45-A059-501EB48DD3A2}" type="pres">
      <dgm:prSet presAssocID="{34A8A8B8-CE1D-2B47-9213-5AAA5728D59F}" presName="hierRoot4" presStyleCnt="0"/>
      <dgm:spPr/>
    </dgm:pt>
    <dgm:pt modelId="{F07505EF-9E21-3D47-B7B6-1AD75FA1E7CE}" type="pres">
      <dgm:prSet presAssocID="{34A8A8B8-CE1D-2B47-9213-5AAA5728D59F}" presName="composite4" presStyleCnt="0"/>
      <dgm:spPr/>
    </dgm:pt>
    <dgm:pt modelId="{1736D2AD-07E7-C843-91F6-CE28521CCFF4}" type="pres">
      <dgm:prSet presAssocID="{34A8A8B8-CE1D-2B47-9213-5AAA5728D59F}" presName="background4" presStyleLbl="node4" presStyleIdx="0" presStyleCnt="2"/>
      <dgm:spPr/>
    </dgm:pt>
    <dgm:pt modelId="{B333A57A-48EE-5242-BD9B-52CB2AF1E318}" type="pres">
      <dgm:prSet presAssocID="{34A8A8B8-CE1D-2B47-9213-5AAA5728D59F}" presName="text4" presStyleLbl="fgAcc4" presStyleIdx="0" presStyleCnt="2">
        <dgm:presLayoutVars>
          <dgm:chPref val="3"/>
        </dgm:presLayoutVars>
      </dgm:prSet>
      <dgm:spPr/>
    </dgm:pt>
    <dgm:pt modelId="{7DF5D2FF-A82A-EF48-A6B6-76CE079CB2E2}" type="pres">
      <dgm:prSet presAssocID="{34A8A8B8-CE1D-2B47-9213-5AAA5728D59F}" presName="hierChild5" presStyleCnt="0"/>
      <dgm:spPr/>
    </dgm:pt>
    <dgm:pt modelId="{3C7D11FE-EEF3-7545-93D8-1DB38844BCD9}" type="pres">
      <dgm:prSet presAssocID="{B827E42C-E46B-674C-98FF-91AE57ACE5B3}" presName="Name23" presStyleLbl="parChTrans1D4" presStyleIdx="1" presStyleCnt="2"/>
      <dgm:spPr/>
    </dgm:pt>
    <dgm:pt modelId="{7163E510-984B-1348-B6AD-3D172CBFC54C}" type="pres">
      <dgm:prSet presAssocID="{B3F6F7F5-22C1-514C-BE19-9E7000502AC8}" presName="hierRoot4" presStyleCnt="0"/>
      <dgm:spPr/>
    </dgm:pt>
    <dgm:pt modelId="{29603715-A3E3-FB46-8422-18586E008F8A}" type="pres">
      <dgm:prSet presAssocID="{B3F6F7F5-22C1-514C-BE19-9E7000502AC8}" presName="composite4" presStyleCnt="0"/>
      <dgm:spPr/>
    </dgm:pt>
    <dgm:pt modelId="{EAC4E35C-0109-4F47-8608-02C331E54B02}" type="pres">
      <dgm:prSet presAssocID="{B3F6F7F5-22C1-514C-BE19-9E7000502AC8}" presName="background4" presStyleLbl="node4" presStyleIdx="1" presStyleCnt="2"/>
      <dgm:spPr/>
    </dgm:pt>
    <dgm:pt modelId="{A0A8C858-E905-844A-AC25-A05399512C75}" type="pres">
      <dgm:prSet presAssocID="{B3F6F7F5-22C1-514C-BE19-9E7000502AC8}" presName="text4" presStyleLbl="fgAcc4" presStyleIdx="1" presStyleCnt="2">
        <dgm:presLayoutVars>
          <dgm:chPref val="3"/>
        </dgm:presLayoutVars>
      </dgm:prSet>
      <dgm:spPr/>
    </dgm:pt>
    <dgm:pt modelId="{5E389B90-E100-5845-8C63-8F7800ED3FC6}" type="pres">
      <dgm:prSet presAssocID="{B3F6F7F5-22C1-514C-BE19-9E7000502AC8}" presName="hierChild5" presStyleCnt="0"/>
      <dgm:spPr/>
    </dgm:pt>
  </dgm:ptLst>
  <dgm:cxnLst>
    <dgm:cxn modelId="{5857D000-8887-7B43-8966-32D8E7792D11}" type="presOf" srcId="{C7F6F0F9-6B33-6645-BE6F-B7C9AFAAD20E}" destId="{FB073C9D-1D77-2E46-BFE3-7AAADFA1A2D9}" srcOrd="0" destOrd="0" presId="urn:microsoft.com/office/officeart/2005/8/layout/hierarchy1"/>
    <dgm:cxn modelId="{30EF5401-594B-F247-B88C-0653C078A1D6}" type="presOf" srcId="{CB3015D2-E9B4-DC46-B423-C6102EC252B7}" destId="{25D62D44-C585-A941-829E-69B3115E5DD8}" srcOrd="0" destOrd="0" presId="urn:microsoft.com/office/officeart/2005/8/layout/hierarchy1"/>
    <dgm:cxn modelId="{174A0410-93DD-6C4D-8ECD-38A611378789}" type="presOf" srcId="{13B92AAE-2F91-9441-9BFD-C981A74D2C4B}" destId="{A8F7C821-52B6-CE4B-B77C-23A0DA5207E9}" srcOrd="0" destOrd="0" presId="urn:microsoft.com/office/officeart/2005/8/layout/hierarchy1"/>
    <dgm:cxn modelId="{B3FE8A17-5705-6247-9934-1D50AB8C7B73}" type="presOf" srcId="{575B087D-992B-3A4F-9960-F8A510597542}" destId="{A838212C-886C-3B45-82C8-753C27B8D403}" srcOrd="0" destOrd="0" presId="urn:microsoft.com/office/officeart/2005/8/layout/hierarchy1"/>
    <dgm:cxn modelId="{F6EF5229-3723-5A46-8026-EEA2D497AE77}" type="presOf" srcId="{D8232842-5868-DF4B-92D1-49927CB4ED99}" destId="{AC8D7A22-D83E-8943-9431-954A5C2CFE9F}" srcOrd="0" destOrd="0" presId="urn:microsoft.com/office/officeart/2005/8/layout/hierarchy1"/>
    <dgm:cxn modelId="{9226BD3E-C649-1D4D-9624-163D71F225D3}" type="presOf" srcId="{A3EECF58-7674-5049-8B51-2A52AF8B77CE}" destId="{5FE0797E-06C2-7744-9CA8-FD7644F6E2B7}" srcOrd="0" destOrd="0" presId="urn:microsoft.com/office/officeart/2005/8/layout/hierarchy1"/>
    <dgm:cxn modelId="{B5705041-0F88-9749-944A-E5D779C1F48E}" type="presOf" srcId="{9312324F-3596-2A47-9527-BD1071BBEE5D}" destId="{1ACF773F-562C-594D-8F91-399B6AD2E582}" srcOrd="0" destOrd="0" presId="urn:microsoft.com/office/officeart/2005/8/layout/hierarchy1"/>
    <dgm:cxn modelId="{644A5B4A-3901-4F4D-A41F-3860B92A527A}" srcId="{C00FE82D-CAF8-BA43-9F22-61F6BF90FA16}" destId="{B3F6F7F5-22C1-514C-BE19-9E7000502AC8}" srcOrd="1" destOrd="0" parTransId="{B827E42C-E46B-674C-98FF-91AE57ACE5B3}" sibTransId="{C0224A7F-EBA6-474F-9749-EB8F747C2D2C}"/>
    <dgm:cxn modelId="{1D4C8B50-EFEB-684B-A821-0A2B9FC0D1BE}" type="presOf" srcId="{C00FE82D-CAF8-BA43-9F22-61F6BF90FA16}" destId="{9947E7EF-E9C6-4747-B012-9FF30AB94B5E}" srcOrd="0" destOrd="0" presId="urn:microsoft.com/office/officeart/2005/8/layout/hierarchy1"/>
    <dgm:cxn modelId="{DC87FD55-5FBF-A141-9A8B-F541DEC18883}" srcId="{78B7124F-C1F7-4849-B5D3-8FF6A3D4DF45}" destId="{CB3015D2-E9B4-DC46-B423-C6102EC252B7}" srcOrd="1" destOrd="0" parTransId="{A3EECF58-7674-5049-8B51-2A52AF8B77CE}" sibTransId="{7BA538B5-1B13-324F-8796-7A21E39DA971}"/>
    <dgm:cxn modelId="{FEF30557-18A4-914C-9DBB-51843CCD7890}" srcId="{575B087D-992B-3A4F-9960-F8A510597542}" destId="{86A6CF2D-037F-C04E-9809-493625831DFF}" srcOrd="1" destOrd="0" parTransId="{5313F6C7-9656-0140-9711-B93AFCE6D110}" sibTransId="{E87466F7-DBC5-2E48-AA7D-30C60DA30D96}"/>
    <dgm:cxn modelId="{6B3F9667-B7AD-5D4B-B758-C997F4236EEA}" srcId="{78B7124F-C1F7-4849-B5D3-8FF6A3D4DF45}" destId="{575B087D-992B-3A4F-9960-F8A510597542}" srcOrd="0" destOrd="0" parTransId="{13B92AAE-2F91-9441-9BFD-C981A74D2C4B}" sibTransId="{0835E3E7-3962-E142-8433-68A1C23ABA75}"/>
    <dgm:cxn modelId="{D9AFB770-07D0-D745-9D17-92858E5125F1}" type="presOf" srcId="{B3F6F7F5-22C1-514C-BE19-9E7000502AC8}" destId="{A0A8C858-E905-844A-AC25-A05399512C75}" srcOrd="0" destOrd="0" presId="urn:microsoft.com/office/officeart/2005/8/layout/hierarchy1"/>
    <dgm:cxn modelId="{AA34E773-1336-1F4E-8AEE-F712E236D22D}" type="presOf" srcId="{5313F6C7-9656-0140-9711-B93AFCE6D110}" destId="{6EE4AAB1-3B5D-054E-ACE7-BC36D48941DB}" srcOrd="0" destOrd="0" presId="urn:microsoft.com/office/officeart/2005/8/layout/hierarchy1"/>
    <dgm:cxn modelId="{D70F1F77-C6D8-7245-B3F1-3B9C8FCBD251}" srcId="{C00FE82D-CAF8-BA43-9F22-61F6BF90FA16}" destId="{34A8A8B8-CE1D-2B47-9213-5AAA5728D59F}" srcOrd="0" destOrd="0" parTransId="{9312324F-3596-2A47-9527-BD1071BBEE5D}" sibTransId="{1CEE3C02-EAE7-8042-9AFC-29E4A4AAE099}"/>
    <dgm:cxn modelId="{E5611878-DBEC-BF4B-8906-78B77824E705}" type="presOf" srcId="{B827E42C-E46B-674C-98FF-91AE57ACE5B3}" destId="{3C7D11FE-EEF3-7545-93D8-1DB38844BCD9}" srcOrd="0" destOrd="0" presId="urn:microsoft.com/office/officeart/2005/8/layout/hierarchy1"/>
    <dgm:cxn modelId="{597F8F81-F2AC-1447-B530-78DE63F3CF84}" srcId="{CB3015D2-E9B4-DC46-B423-C6102EC252B7}" destId="{C00FE82D-CAF8-BA43-9F22-61F6BF90FA16}" srcOrd="1" destOrd="0" parTransId="{F9B47122-455A-BA42-B77F-404232D84572}" sibTransId="{D6E53C5D-4EBA-404C-9024-1A931BBB29B5}"/>
    <dgm:cxn modelId="{FCECF38C-5472-534D-9293-C03571E2B822}" type="presOf" srcId="{49C3611A-BB55-7746-95FA-65D7FF20A2DE}" destId="{3064E708-EFF8-C043-BCF3-AEC8D507399C}" srcOrd="0" destOrd="0" presId="urn:microsoft.com/office/officeart/2005/8/layout/hierarchy1"/>
    <dgm:cxn modelId="{B30CA08D-2988-1549-A8B8-BEE1B60D566E}" type="presOf" srcId="{86A6CF2D-037F-C04E-9809-493625831DFF}" destId="{E77E0F5B-4D72-414F-8E53-3336FAD8614E}" srcOrd="0" destOrd="0" presId="urn:microsoft.com/office/officeart/2005/8/layout/hierarchy1"/>
    <dgm:cxn modelId="{59BBEC8F-FAB4-9A44-8C11-209F7E7DF8F5}" type="presOf" srcId="{34A8A8B8-CE1D-2B47-9213-5AAA5728D59F}" destId="{B333A57A-48EE-5242-BD9B-52CB2AF1E318}" srcOrd="0" destOrd="0" presId="urn:microsoft.com/office/officeart/2005/8/layout/hierarchy1"/>
    <dgm:cxn modelId="{D2C2139B-520E-9247-89E6-83E5081D87C4}" type="presOf" srcId="{F9B47122-455A-BA42-B77F-404232D84572}" destId="{7B483686-49C9-9D49-8752-54CF82BC3946}" srcOrd="0" destOrd="0" presId="urn:microsoft.com/office/officeart/2005/8/layout/hierarchy1"/>
    <dgm:cxn modelId="{6E7B76A9-5BC6-064F-8714-44ED6452D310}" type="presOf" srcId="{78B7124F-C1F7-4849-B5D3-8FF6A3D4DF45}" destId="{91469362-FA56-E949-BE4F-8CFC9F80FE50}" srcOrd="0" destOrd="0" presId="urn:microsoft.com/office/officeart/2005/8/layout/hierarchy1"/>
    <dgm:cxn modelId="{B22BB7CF-6481-8141-BF42-559233A065DE}" srcId="{C7F6F0F9-6B33-6645-BE6F-B7C9AFAAD20E}" destId="{78B7124F-C1F7-4849-B5D3-8FF6A3D4DF45}" srcOrd="0" destOrd="0" parTransId="{242833AD-FA4F-E345-A298-A74596600DF3}" sibTransId="{04E98DE0-A5F1-B944-8C08-EECA8C6DF274}"/>
    <dgm:cxn modelId="{B863C4D7-DB9B-B64A-AEC0-421F28A90D40}" srcId="{575B087D-992B-3A4F-9960-F8A510597542}" destId="{D8232842-5868-DF4B-92D1-49927CB4ED99}" srcOrd="0" destOrd="0" parTransId="{49C3611A-BB55-7746-95FA-65D7FF20A2DE}" sibTransId="{026B97C7-441D-E14B-962E-8002D18FC0EF}"/>
    <dgm:cxn modelId="{60F138DC-6118-9E49-97AB-1844BCF0542A}" srcId="{CB3015D2-E9B4-DC46-B423-C6102EC252B7}" destId="{1B4A3FD8-319C-3F4B-80CD-B11B86BF988C}" srcOrd="0" destOrd="0" parTransId="{E8E66DD2-52E5-1242-8C20-349470E72BDB}" sibTransId="{4EBBCDF4-D917-D542-A0BC-B79CBDC5AD22}"/>
    <dgm:cxn modelId="{90D952F2-8ED8-824F-89A9-D02308D6A40E}" type="presOf" srcId="{1B4A3FD8-319C-3F4B-80CD-B11B86BF988C}" destId="{0FFC00E6-006F-CC47-9889-0EC2F33761AF}" srcOrd="0" destOrd="0" presId="urn:microsoft.com/office/officeart/2005/8/layout/hierarchy1"/>
    <dgm:cxn modelId="{9D3201F3-423F-E148-AC0B-DE638295F963}" type="presOf" srcId="{E8E66DD2-52E5-1242-8C20-349470E72BDB}" destId="{88D7223F-0986-AA4A-B4F9-DB5291C40473}" srcOrd="0" destOrd="0" presId="urn:microsoft.com/office/officeart/2005/8/layout/hierarchy1"/>
    <dgm:cxn modelId="{41982F36-5A3E-F34D-A472-13F640F56A60}" type="presParOf" srcId="{FB073C9D-1D77-2E46-BFE3-7AAADFA1A2D9}" destId="{F11DF853-2BD3-5748-AA1F-B44EF7D8E538}" srcOrd="0" destOrd="0" presId="urn:microsoft.com/office/officeart/2005/8/layout/hierarchy1"/>
    <dgm:cxn modelId="{F19B3F60-823A-8243-8491-EAC93B29B34B}" type="presParOf" srcId="{F11DF853-2BD3-5748-AA1F-B44EF7D8E538}" destId="{1DECDE42-5FBB-DF48-9C62-AB85E5CFF520}" srcOrd="0" destOrd="0" presId="urn:microsoft.com/office/officeart/2005/8/layout/hierarchy1"/>
    <dgm:cxn modelId="{9AE5E7F9-5373-254B-B221-184F35ACFEDE}" type="presParOf" srcId="{1DECDE42-5FBB-DF48-9C62-AB85E5CFF520}" destId="{BD2927E7-1A47-E449-80F6-A4DBF9CC646A}" srcOrd="0" destOrd="0" presId="urn:microsoft.com/office/officeart/2005/8/layout/hierarchy1"/>
    <dgm:cxn modelId="{3C6477D6-67D9-EE45-BC62-65C60E8C4713}" type="presParOf" srcId="{1DECDE42-5FBB-DF48-9C62-AB85E5CFF520}" destId="{91469362-FA56-E949-BE4F-8CFC9F80FE50}" srcOrd="1" destOrd="0" presId="urn:microsoft.com/office/officeart/2005/8/layout/hierarchy1"/>
    <dgm:cxn modelId="{64F97096-E346-364F-B6B2-551DD88A7BCC}" type="presParOf" srcId="{F11DF853-2BD3-5748-AA1F-B44EF7D8E538}" destId="{FA8A5361-3909-0C4C-B4AB-B2B1B213D9DA}" srcOrd="1" destOrd="0" presId="urn:microsoft.com/office/officeart/2005/8/layout/hierarchy1"/>
    <dgm:cxn modelId="{A35FDFB3-FF56-7846-826F-86820183F4C2}" type="presParOf" srcId="{FA8A5361-3909-0C4C-B4AB-B2B1B213D9DA}" destId="{A8F7C821-52B6-CE4B-B77C-23A0DA5207E9}" srcOrd="0" destOrd="0" presId="urn:microsoft.com/office/officeart/2005/8/layout/hierarchy1"/>
    <dgm:cxn modelId="{BE47F458-F496-0D4B-98EB-5038438567AC}" type="presParOf" srcId="{FA8A5361-3909-0C4C-B4AB-B2B1B213D9DA}" destId="{2F33C354-2494-E843-9D26-D13647671B4F}" srcOrd="1" destOrd="0" presId="urn:microsoft.com/office/officeart/2005/8/layout/hierarchy1"/>
    <dgm:cxn modelId="{DC2FB77A-C783-794C-B4BF-86271BCC2C7F}" type="presParOf" srcId="{2F33C354-2494-E843-9D26-D13647671B4F}" destId="{8F9E85D2-54B7-C341-AE33-FC1C14AADE4D}" srcOrd="0" destOrd="0" presId="urn:microsoft.com/office/officeart/2005/8/layout/hierarchy1"/>
    <dgm:cxn modelId="{78964639-8B35-9F41-B5E9-A0A5A05A3CA3}" type="presParOf" srcId="{8F9E85D2-54B7-C341-AE33-FC1C14AADE4D}" destId="{89991F47-0DFF-214A-8349-3279F905A25D}" srcOrd="0" destOrd="0" presId="urn:microsoft.com/office/officeart/2005/8/layout/hierarchy1"/>
    <dgm:cxn modelId="{50A941BE-AAE5-E04E-9D27-038CB40E965F}" type="presParOf" srcId="{8F9E85D2-54B7-C341-AE33-FC1C14AADE4D}" destId="{A838212C-886C-3B45-82C8-753C27B8D403}" srcOrd="1" destOrd="0" presId="urn:microsoft.com/office/officeart/2005/8/layout/hierarchy1"/>
    <dgm:cxn modelId="{84FFA35A-CD95-2F47-A60B-4522AFAD14A9}" type="presParOf" srcId="{2F33C354-2494-E843-9D26-D13647671B4F}" destId="{4A4027F6-5587-DC41-A49C-18DC78FCD7CB}" srcOrd="1" destOrd="0" presId="urn:microsoft.com/office/officeart/2005/8/layout/hierarchy1"/>
    <dgm:cxn modelId="{4314801F-FA89-1E42-90EF-93F1C2431E75}" type="presParOf" srcId="{4A4027F6-5587-DC41-A49C-18DC78FCD7CB}" destId="{3064E708-EFF8-C043-BCF3-AEC8D507399C}" srcOrd="0" destOrd="0" presId="urn:microsoft.com/office/officeart/2005/8/layout/hierarchy1"/>
    <dgm:cxn modelId="{7D1E41A8-FF57-BA4B-AF65-2B3EC4F5AFA5}" type="presParOf" srcId="{4A4027F6-5587-DC41-A49C-18DC78FCD7CB}" destId="{754A04D1-95F3-DF47-A69A-5EC7DDB8E3D9}" srcOrd="1" destOrd="0" presId="urn:microsoft.com/office/officeart/2005/8/layout/hierarchy1"/>
    <dgm:cxn modelId="{1044BE72-CF36-244D-9F70-2EFF8920ADF5}" type="presParOf" srcId="{754A04D1-95F3-DF47-A69A-5EC7DDB8E3D9}" destId="{C21E8427-C66F-A049-B26E-DE5DD52F070C}" srcOrd="0" destOrd="0" presId="urn:microsoft.com/office/officeart/2005/8/layout/hierarchy1"/>
    <dgm:cxn modelId="{F70F7D8F-AE83-D140-9048-CA3655DBBFC2}" type="presParOf" srcId="{C21E8427-C66F-A049-B26E-DE5DD52F070C}" destId="{6E0D019E-C0CD-3443-9BF0-89D13D5E8982}" srcOrd="0" destOrd="0" presId="urn:microsoft.com/office/officeart/2005/8/layout/hierarchy1"/>
    <dgm:cxn modelId="{8BDB3A46-B6D3-0D4C-BFFC-E1F553147AEC}" type="presParOf" srcId="{C21E8427-C66F-A049-B26E-DE5DD52F070C}" destId="{AC8D7A22-D83E-8943-9431-954A5C2CFE9F}" srcOrd="1" destOrd="0" presId="urn:microsoft.com/office/officeart/2005/8/layout/hierarchy1"/>
    <dgm:cxn modelId="{E4F8966B-3606-CA41-9ABD-7DFEE593D857}" type="presParOf" srcId="{754A04D1-95F3-DF47-A69A-5EC7DDB8E3D9}" destId="{4214365C-0BFE-DF4E-974B-6D09EBECF81A}" srcOrd="1" destOrd="0" presId="urn:microsoft.com/office/officeart/2005/8/layout/hierarchy1"/>
    <dgm:cxn modelId="{2F6FD138-67FF-D444-97C5-A445458496EE}" type="presParOf" srcId="{4A4027F6-5587-DC41-A49C-18DC78FCD7CB}" destId="{6EE4AAB1-3B5D-054E-ACE7-BC36D48941DB}" srcOrd="2" destOrd="0" presId="urn:microsoft.com/office/officeart/2005/8/layout/hierarchy1"/>
    <dgm:cxn modelId="{6DB8B145-3D48-2E4B-B801-03ECB8F43330}" type="presParOf" srcId="{4A4027F6-5587-DC41-A49C-18DC78FCD7CB}" destId="{9DA2F811-604E-2248-A202-506F81033389}" srcOrd="3" destOrd="0" presId="urn:microsoft.com/office/officeart/2005/8/layout/hierarchy1"/>
    <dgm:cxn modelId="{E2450E1E-6BE9-7C48-9DBB-63FC6D9BF40E}" type="presParOf" srcId="{9DA2F811-604E-2248-A202-506F81033389}" destId="{D053BE71-787A-9248-BD70-3D5089A4A5FC}" srcOrd="0" destOrd="0" presId="urn:microsoft.com/office/officeart/2005/8/layout/hierarchy1"/>
    <dgm:cxn modelId="{FB9CAE37-76C2-F54C-9AE3-C14065AE1079}" type="presParOf" srcId="{D053BE71-787A-9248-BD70-3D5089A4A5FC}" destId="{C42F73EC-C811-BC43-8E8F-19883F870189}" srcOrd="0" destOrd="0" presId="urn:microsoft.com/office/officeart/2005/8/layout/hierarchy1"/>
    <dgm:cxn modelId="{E3A0D1AD-895E-6345-9B17-61EE9AFF740F}" type="presParOf" srcId="{D053BE71-787A-9248-BD70-3D5089A4A5FC}" destId="{E77E0F5B-4D72-414F-8E53-3336FAD8614E}" srcOrd="1" destOrd="0" presId="urn:microsoft.com/office/officeart/2005/8/layout/hierarchy1"/>
    <dgm:cxn modelId="{5111934B-1D55-D348-85A6-3D42A9159FCF}" type="presParOf" srcId="{9DA2F811-604E-2248-A202-506F81033389}" destId="{A1BFF99E-DC1E-0043-A290-0FD8FDB67012}" srcOrd="1" destOrd="0" presId="urn:microsoft.com/office/officeart/2005/8/layout/hierarchy1"/>
    <dgm:cxn modelId="{7B888687-C9AC-A746-BCDF-38DE49627AAD}" type="presParOf" srcId="{FA8A5361-3909-0C4C-B4AB-B2B1B213D9DA}" destId="{5FE0797E-06C2-7744-9CA8-FD7644F6E2B7}" srcOrd="2" destOrd="0" presId="urn:microsoft.com/office/officeart/2005/8/layout/hierarchy1"/>
    <dgm:cxn modelId="{B86D2002-EBAA-CF47-9503-3788CC894249}" type="presParOf" srcId="{FA8A5361-3909-0C4C-B4AB-B2B1B213D9DA}" destId="{679A754B-C351-7F4C-B62C-10E3D4502306}" srcOrd="3" destOrd="0" presId="urn:microsoft.com/office/officeart/2005/8/layout/hierarchy1"/>
    <dgm:cxn modelId="{5E72322B-A708-3941-84BF-2B2E20F409F7}" type="presParOf" srcId="{679A754B-C351-7F4C-B62C-10E3D4502306}" destId="{3EC332F1-26CB-964E-9DB2-E8E5F917E554}" srcOrd="0" destOrd="0" presId="urn:microsoft.com/office/officeart/2005/8/layout/hierarchy1"/>
    <dgm:cxn modelId="{4D551B0A-0C6D-D34E-AAE2-AC808873238C}" type="presParOf" srcId="{3EC332F1-26CB-964E-9DB2-E8E5F917E554}" destId="{5B2B810C-6422-C84C-9C39-74682B350E55}" srcOrd="0" destOrd="0" presId="urn:microsoft.com/office/officeart/2005/8/layout/hierarchy1"/>
    <dgm:cxn modelId="{143EA091-0BB3-AB41-94EC-5C992A7AF55B}" type="presParOf" srcId="{3EC332F1-26CB-964E-9DB2-E8E5F917E554}" destId="{25D62D44-C585-A941-829E-69B3115E5DD8}" srcOrd="1" destOrd="0" presId="urn:microsoft.com/office/officeart/2005/8/layout/hierarchy1"/>
    <dgm:cxn modelId="{76003390-0C64-0344-9FDC-F15E6D8D8DAB}" type="presParOf" srcId="{679A754B-C351-7F4C-B62C-10E3D4502306}" destId="{FE0A4C03-7B73-5D49-9E71-1F80D877FC69}" srcOrd="1" destOrd="0" presId="urn:microsoft.com/office/officeart/2005/8/layout/hierarchy1"/>
    <dgm:cxn modelId="{21376757-CFAA-974C-BD86-3CFAC365B549}" type="presParOf" srcId="{FE0A4C03-7B73-5D49-9E71-1F80D877FC69}" destId="{88D7223F-0986-AA4A-B4F9-DB5291C40473}" srcOrd="0" destOrd="0" presId="urn:microsoft.com/office/officeart/2005/8/layout/hierarchy1"/>
    <dgm:cxn modelId="{CCB42D84-6B3F-F546-87F9-938AA23CA19A}" type="presParOf" srcId="{FE0A4C03-7B73-5D49-9E71-1F80D877FC69}" destId="{CA132D81-7E11-304B-9D36-1BE7F4F64B2E}" srcOrd="1" destOrd="0" presId="urn:microsoft.com/office/officeart/2005/8/layout/hierarchy1"/>
    <dgm:cxn modelId="{FEC9B338-9B93-6649-8DE5-38385046B94D}" type="presParOf" srcId="{CA132D81-7E11-304B-9D36-1BE7F4F64B2E}" destId="{B5B95EF3-4A77-0C4B-AE4B-BB3158117ADC}" srcOrd="0" destOrd="0" presId="urn:microsoft.com/office/officeart/2005/8/layout/hierarchy1"/>
    <dgm:cxn modelId="{8B8E80B8-6071-F448-A8F7-D535DE2C4732}" type="presParOf" srcId="{B5B95EF3-4A77-0C4B-AE4B-BB3158117ADC}" destId="{D074DEDB-D6BB-D248-9B88-0DD4FB370A5A}" srcOrd="0" destOrd="0" presId="urn:microsoft.com/office/officeart/2005/8/layout/hierarchy1"/>
    <dgm:cxn modelId="{2F34D76A-6D90-3349-9AEA-42A22002000B}" type="presParOf" srcId="{B5B95EF3-4A77-0C4B-AE4B-BB3158117ADC}" destId="{0FFC00E6-006F-CC47-9889-0EC2F33761AF}" srcOrd="1" destOrd="0" presId="urn:microsoft.com/office/officeart/2005/8/layout/hierarchy1"/>
    <dgm:cxn modelId="{3B4EEF80-F042-8D47-9062-0A379B6E0A99}" type="presParOf" srcId="{CA132D81-7E11-304B-9D36-1BE7F4F64B2E}" destId="{003EAF58-5B71-4548-9B40-0876DFB567FA}" srcOrd="1" destOrd="0" presId="urn:microsoft.com/office/officeart/2005/8/layout/hierarchy1"/>
    <dgm:cxn modelId="{714BB54D-92DD-5246-8E2B-380281491993}" type="presParOf" srcId="{FE0A4C03-7B73-5D49-9E71-1F80D877FC69}" destId="{7B483686-49C9-9D49-8752-54CF82BC3946}" srcOrd="2" destOrd="0" presId="urn:microsoft.com/office/officeart/2005/8/layout/hierarchy1"/>
    <dgm:cxn modelId="{30B68A76-03E4-804B-A2C5-CC3A514F5DB1}" type="presParOf" srcId="{FE0A4C03-7B73-5D49-9E71-1F80D877FC69}" destId="{EB64ADE9-D872-124A-85A2-4075D63F4677}" srcOrd="3" destOrd="0" presId="urn:microsoft.com/office/officeart/2005/8/layout/hierarchy1"/>
    <dgm:cxn modelId="{FAFC590C-FF18-7842-8344-9F57C52F0DFD}" type="presParOf" srcId="{EB64ADE9-D872-124A-85A2-4075D63F4677}" destId="{98F2F6FD-F80B-F14E-826D-93355FB7886D}" srcOrd="0" destOrd="0" presId="urn:microsoft.com/office/officeart/2005/8/layout/hierarchy1"/>
    <dgm:cxn modelId="{7F776664-D5F3-2D46-922D-24318EC744E5}" type="presParOf" srcId="{98F2F6FD-F80B-F14E-826D-93355FB7886D}" destId="{5E6F254A-0E12-D54C-B765-D55DD08B035D}" srcOrd="0" destOrd="0" presId="urn:microsoft.com/office/officeart/2005/8/layout/hierarchy1"/>
    <dgm:cxn modelId="{33910F4B-D24D-4643-ACD5-7CC7BE9C4345}" type="presParOf" srcId="{98F2F6FD-F80B-F14E-826D-93355FB7886D}" destId="{9947E7EF-E9C6-4747-B012-9FF30AB94B5E}" srcOrd="1" destOrd="0" presId="urn:microsoft.com/office/officeart/2005/8/layout/hierarchy1"/>
    <dgm:cxn modelId="{6E5D9621-3486-BE40-A08E-D032C923B52B}" type="presParOf" srcId="{EB64ADE9-D872-124A-85A2-4075D63F4677}" destId="{EE73A80E-E4B6-3B44-9C7C-CCF4B897B10C}" srcOrd="1" destOrd="0" presId="urn:microsoft.com/office/officeart/2005/8/layout/hierarchy1"/>
    <dgm:cxn modelId="{DA49E515-42CA-B049-90D6-0C96A08B1C7E}" type="presParOf" srcId="{EE73A80E-E4B6-3B44-9C7C-CCF4B897B10C}" destId="{1ACF773F-562C-594D-8F91-399B6AD2E582}" srcOrd="0" destOrd="0" presId="urn:microsoft.com/office/officeart/2005/8/layout/hierarchy1"/>
    <dgm:cxn modelId="{03D26506-EC98-CC42-AA1C-583D8E94A3E0}" type="presParOf" srcId="{EE73A80E-E4B6-3B44-9C7C-CCF4B897B10C}" destId="{5F0B8FC0-267B-8A45-A059-501EB48DD3A2}" srcOrd="1" destOrd="0" presId="urn:microsoft.com/office/officeart/2005/8/layout/hierarchy1"/>
    <dgm:cxn modelId="{BCBB1BF7-276B-1648-BC16-F501B7DA467D}" type="presParOf" srcId="{5F0B8FC0-267B-8A45-A059-501EB48DD3A2}" destId="{F07505EF-9E21-3D47-B7B6-1AD75FA1E7CE}" srcOrd="0" destOrd="0" presId="urn:microsoft.com/office/officeart/2005/8/layout/hierarchy1"/>
    <dgm:cxn modelId="{781F818A-41EB-C349-90F3-C57BB0A0C418}" type="presParOf" srcId="{F07505EF-9E21-3D47-B7B6-1AD75FA1E7CE}" destId="{1736D2AD-07E7-C843-91F6-CE28521CCFF4}" srcOrd="0" destOrd="0" presId="urn:microsoft.com/office/officeart/2005/8/layout/hierarchy1"/>
    <dgm:cxn modelId="{B22A1BEC-73C3-6C4E-ADB7-DEB26C6EA4FD}" type="presParOf" srcId="{F07505EF-9E21-3D47-B7B6-1AD75FA1E7CE}" destId="{B333A57A-48EE-5242-BD9B-52CB2AF1E318}" srcOrd="1" destOrd="0" presId="urn:microsoft.com/office/officeart/2005/8/layout/hierarchy1"/>
    <dgm:cxn modelId="{49489CD6-E5AA-0F4C-B1DF-6AE15F9B8F72}" type="presParOf" srcId="{5F0B8FC0-267B-8A45-A059-501EB48DD3A2}" destId="{7DF5D2FF-A82A-EF48-A6B6-76CE079CB2E2}" srcOrd="1" destOrd="0" presId="urn:microsoft.com/office/officeart/2005/8/layout/hierarchy1"/>
    <dgm:cxn modelId="{D2DD95FD-8C9A-2C42-9BC2-0AFAD73C9D33}" type="presParOf" srcId="{EE73A80E-E4B6-3B44-9C7C-CCF4B897B10C}" destId="{3C7D11FE-EEF3-7545-93D8-1DB38844BCD9}" srcOrd="2" destOrd="0" presId="urn:microsoft.com/office/officeart/2005/8/layout/hierarchy1"/>
    <dgm:cxn modelId="{C4AA320D-C496-854B-A71D-692692F9FDDA}" type="presParOf" srcId="{EE73A80E-E4B6-3B44-9C7C-CCF4B897B10C}" destId="{7163E510-984B-1348-B6AD-3D172CBFC54C}" srcOrd="3" destOrd="0" presId="urn:microsoft.com/office/officeart/2005/8/layout/hierarchy1"/>
    <dgm:cxn modelId="{DC9B7AEB-5903-E944-BCAD-E520502F7C86}" type="presParOf" srcId="{7163E510-984B-1348-B6AD-3D172CBFC54C}" destId="{29603715-A3E3-FB46-8422-18586E008F8A}" srcOrd="0" destOrd="0" presId="urn:microsoft.com/office/officeart/2005/8/layout/hierarchy1"/>
    <dgm:cxn modelId="{ABE1A38B-8E9B-AC47-9544-D0F81A15AD84}" type="presParOf" srcId="{29603715-A3E3-FB46-8422-18586E008F8A}" destId="{EAC4E35C-0109-4F47-8608-02C331E54B02}" srcOrd="0" destOrd="0" presId="urn:microsoft.com/office/officeart/2005/8/layout/hierarchy1"/>
    <dgm:cxn modelId="{BBFE983B-3FCA-8B49-B282-BCB72B34BED6}" type="presParOf" srcId="{29603715-A3E3-FB46-8422-18586E008F8A}" destId="{A0A8C858-E905-844A-AC25-A05399512C75}" srcOrd="1" destOrd="0" presId="urn:microsoft.com/office/officeart/2005/8/layout/hierarchy1"/>
    <dgm:cxn modelId="{ED424731-BB67-7F48-A24A-C1985BBE926A}" type="presParOf" srcId="{7163E510-984B-1348-B6AD-3D172CBFC54C}" destId="{5E389B90-E100-5845-8C63-8F7800ED3FC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58834-843F-4520-92BA-113AD3B59D7F}">
      <dsp:nvSpPr>
        <dsp:cNvPr id="0" name=""/>
        <dsp:cNvSpPr/>
      </dsp:nvSpPr>
      <dsp:spPr>
        <a:xfrm>
          <a:off x="0" y="0"/>
          <a:ext cx="106991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3892A-746B-4305-8681-B0A248A374D0}">
      <dsp:nvSpPr>
        <dsp:cNvPr id="0" name=""/>
        <dsp:cNvSpPr/>
      </dsp:nvSpPr>
      <dsp:spPr>
        <a:xfrm>
          <a:off x="0" y="0"/>
          <a:ext cx="10699187" cy="1273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noProof="0" dirty="0"/>
            <a:t>1) Cleavages are based on individual's belief systems, identities or political conflicts</a:t>
          </a:r>
        </a:p>
      </dsp:txBody>
      <dsp:txXfrm>
        <a:off x="0" y="0"/>
        <a:ext cx="10699187" cy="1273065"/>
      </dsp:txXfrm>
    </dsp:sp>
    <dsp:sp modelId="{7948EC50-AB35-5440-BAB7-79246BB45509}">
      <dsp:nvSpPr>
        <dsp:cNvPr id="0" name=""/>
        <dsp:cNvSpPr/>
      </dsp:nvSpPr>
      <dsp:spPr>
        <a:xfrm>
          <a:off x="0" y="1273065"/>
          <a:ext cx="106991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B541F-B88E-C342-B3F7-3A9499774F35}">
      <dsp:nvSpPr>
        <dsp:cNvPr id="0" name=""/>
        <dsp:cNvSpPr/>
      </dsp:nvSpPr>
      <dsp:spPr>
        <a:xfrm>
          <a:off x="0" y="1273065"/>
          <a:ext cx="10699187" cy="1273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noProof="0" dirty="0"/>
            <a:t>2) External threats might be utilized to transform salient foreign policy issues into structured belief systems.  </a:t>
          </a:r>
        </a:p>
      </dsp:txBody>
      <dsp:txXfrm>
        <a:off x="0" y="1273065"/>
        <a:ext cx="10699187" cy="1273065"/>
      </dsp:txXfrm>
    </dsp:sp>
    <dsp:sp modelId="{0A6BCBCD-C11C-4B35-A262-D48B8A2AB1D7}">
      <dsp:nvSpPr>
        <dsp:cNvPr id="0" name=""/>
        <dsp:cNvSpPr/>
      </dsp:nvSpPr>
      <dsp:spPr>
        <a:xfrm>
          <a:off x="0" y="2546130"/>
          <a:ext cx="106991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921D7-BAE5-4357-AFCD-03868C66A463}">
      <dsp:nvSpPr>
        <dsp:cNvPr id="0" name=""/>
        <dsp:cNvSpPr/>
      </dsp:nvSpPr>
      <dsp:spPr>
        <a:xfrm>
          <a:off x="0" y="2546131"/>
          <a:ext cx="10699187" cy="1273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noProof="0" dirty="0"/>
            <a:t>3) The war against Ukraine represents conflict deeply rooted in the history of Europe and its relationship with Russia (liberal vs illiberal) easily forming a collaboration-security division. </a:t>
          </a:r>
        </a:p>
      </dsp:txBody>
      <dsp:txXfrm>
        <a:off x="0" y="2546131"/>
        <a:ext cx="10699187" cy="1273065"/>
      </dsp:txXfrm>
    </dsp:sp>
    <dsp:sp modelId="{018ED86D-049C-B14E-838D-570221FB0A8B}">
      <dsp:nvSpPr>
        <dsp:cNvPr id="0" name=""/>
        <dsp:cNvSpPr/>
      </dsp:nvSpPr>
      <dsp:spPr>
        <a:xfrm>
          <a:off x="0" y="3819196"/>
          <a:ext cx="106991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304C4-E68F-AD41-B323-B75F67047E23}">
      <dsp:nvSpPr>
        <dsp:cNvPr id="0" name=""/>
        <dsp:cNvSpPr/>
      </dsp:nvSpPr>
      <dsp:spPr>
        <a:xfrm>
          <a:off x="0" y="3819196"/>
          <a:ext cx="10699187" cy="1273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noProof="0" dirty="0"/>
            <a:t> 4) Most Europeans take a position on this dimension. It cuts across existing cleavages and has political consequences. We explore whether the collaboration-security division represents a new political cleavage in Europe. </a:t>
          </a:r>
        </a:p>
      </dsp:txBody>
      <dsp:txXfrm>
        <a:off x="0" y="3819196"/>
        <a:ext cx="10699187" cy="12730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C03DF-BE57-41E6-9FAA-8ED172F738B4}">
      <dsp:nvSpPr>
        <dsp:cNvPr id="0" name=""/>
        <dsp:cNvSpPr/>
      </dsp:nvSpPr>
      <dsp:spPr>
        <a:xfrm>
          <a:off x="0" y="639"/>
          <a:ext cx="111138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D4EC4-7611-4F09-A8DD-F7D36E027599}">
      <dsp:nvSpPr>
        <dsp:cNvPr id="0" name=""/>
        <dsp:cNvSpPr/>
      </dsp:nvSpPr>
      <dsp:spPr>
        <a:xfrm>
          <a:off x="0" y="639"/>
          <a:ext cx="11113866" cy="1047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i="0" u="none" kern="1200" dirty="0"/>
            <a:t>E1) Europeans will take a position </a:t>
          </a:r>
          <a:r>
            <a:rPr lang="en-CA" sz="2400" b="1" i="0" u="none" kern="1200" dirty="0">
              <a:latin typeface="Arial" panose="020B0604020202020204"/>
            </a:rPr>
            <a:t>on </a:t>
          </a:r>
          <a:r>
            <a:rPr lang="en-CA" sz="2400" b="1" i="0" u="none" kern="1200" dirty="0"/>
            <a:t>the </a:t>
          </a:r>
          <a:r>
            <a:rPr lang="en-CA" sz="2400" b="1" i="0" u="none" kern="1200" dirty="0">
              <a:latin typeface="Arial" panose="020B0604020202020204"/>
            </a:rPr>
            <a:t>Russo-Ukrainian</a:t>
          </a:r>
          <a:r>
            <a:rPr lang="en-CA" sz="2400" b="1" i="0" u="none" kern="1200" dirty="0"/>
            <a:t> </a:t>
          </a:r>
          <a:r>
            <a:rPr lang="en-CA" sz="2400" b="1" i="0" u="none" kern="1200" dirty="0">
              <a:latin typeface="Arial" panose="020B0604020202020204"/>
            </a:rPr>
            <a:t>war </a:t>
          </a:r>
          <a:r>
            <a:rPr lang="en-CA" sz="2400" b="1" i="0" u="none" kern="1200" dirty="0"/>
            <a:t>along </a:t>
          </a:r>
          <a:r>
            <a:rPr lang="en-CA" sz="2400" b="1" i="0" u="none" kern="1200" dirty="0">
              <a:latin typeface="Arial" panose="020B0604020202020204"/>
            </a:rPr>
            <a:t>a security</a:t>
          </a:r>
          <a:r>
            <a:rPr lang="en-CA" sz="2400" b="1" i="0" u="none" kern="1200" dirty="0"/>
            <a:t>–collaboration dimension. </a:t>
          </a:r>
          <a:endParaRPr lang="en-CA" sz="2400" kern="1200" noProof="0" dirty="0"/>
        </a:p>
      </dsp:txBody>
      <dsp:txXfrm>
        <a:off x="0" y="639"/>
        <a:ext cx="11113866" cy="1047597"/>
      </dsp:txXfrm>
    </dsp:sp>
    <dsp:sp modelId="{9CB9E0E5-E624-4E85-9BFB-E24CA2E5C35F}">
      <dsp:nvSpPr>
        <dsp:cNvPr id="0" name=""/>
        <dsp:cNvSpPr/>
      </dsp:nvSpPr>
      <dsp:spPr>
        <a:xfrm>
          <a:off x="0" y="1048236"/>
          <a:ext cx="111138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57479-7782-4948-BD22-8EE3012E707D}">
      <dsp:nvSpPr>
        <dsp:cNvPr id="0" name=""/>
        <dsp:cNvSpPr/>
      </dsp:nvSpPr>
      <dsp:spPr>
        <a:xfrm>
          <a:off x="0" y="1048236"/>
          <a:ext cx="11113866" cy="1047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i="0" u="none" kern="1200" dirty="0"/>
            <a:t>E2) Horizontal coherence within the issue domain around the </a:t>
          </a:r>
          <a:r>
            <a:rPr lang="en-CA" sz="2400" b="1" i="0" u="none" kern="1200" dirty="0">
              <a:latin typeface="Arial" panose="020B0604020202020204"/>
            </a:rPr>
            <a:t>Russo-Ukrainian</a:t>
          </a:r>
          <a:r>
            <a:rPr lang="en-CA" sz="2400" b="1" i="0" u="none" kern="1200" dirty="0"/>
            <a:t> war. </a:t>
          </a:r>
          <a:endParaRPr lang="en-CA" sz="2400" kern="1200" noProof="0" dirty="0"/>
        </a:p>
      </dsp:txBody>
      <dsp:txXfrm>
        <a:off x="0" y="1048236"/>
        <a:ext cx="11113866" cy="1047597"/>
      </dsp:txXfrm>
    </dsp:sp>
    <dsp:sp modelId="{1B3EAC48-AE56-4002-98DB-F338709C316E}">
      <dsp:nvSpPr>
        <dsp:cNvPr id="0" name=""/>
        <dsp:cNvSpPr/>
      </dsp:nvSpPr>
      <dsp:spPr>
        <a:xfrm>
          <a:off x="0" y="2095833"/>
          <a:ext cx="111138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97CC0-C223-4184-B3DB-ACF719113A0B}">
      <dsp:nvSpPr>
        <dsp:cNvPr id="0" name=""/>
        <dsp:cNvSpPr/>
      </dsp:nvSpPr>
      <dsp:spPr>
        <a:xfrm>
          <a:off x="0" y="2095833"/>
          <a:ext cx="11113866" cy="1047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i="0" u="none" kern="1200" dirty="0"/>
            <a:t>E3) Vertical extension of the security-collaboration dimension into a broader worldview.</a:t>
          </a:r>
          <a:endParaRPr lang="en-CA" sz="2400" kern="1200" noProof="0" dirty="0"/>
        </a:p>
      </dsp:txBody>
      <dsp:txXfrm>
        <a:off x="0" y="2095833"/>
        <a:ext cx="11113866" cy="1047597"/>
      </dsp:txXfrm>
    </dsp:sp>
    <dsp:sp modelId="{DFD1BAEE-7474-4BEA-81F0-268399822A7C}">
      <dsp:nvSpPr>
        <dsp:cNvPr id="0" name=""/>
        <dsp:cNvSpPr/>
      </dsp:nvSpPr>
      <dsp:spPr>
        <a:xfrm>
          <a:off x="0" y="3077107"/>
          <a:ext cx="111138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F6DAD-FBEE-4296-91DB-FD2187E00294}">
      <dsp:nvSpPr>
        <dsp:cNvPr id="0" name=""/>
        <dsp:cNvSpPr/>
      </dsp:nvSpPr>
      <dsp:spPr>
        <a:xfrm>
          <a:off x="0" y="3143431"/>
          <a:ext cx="11113866" cy="1047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i="0" u="none" kern="1200" dirty="0"/>
            <a:t>E4) The security–collaboration cleavage will cut across other prominent cleavages.</a:t>
          </a:r>
          <a:endParaRPr lang="en-CA" sz="2400" kern="1200" noProof="0" dirty="0"/>
        </a:p>
      </dsp:txBody>
      <dsp:txXfrm>
        <a:off x="0" y="3143431"/>
        <a:ext cx="11113866" cy="1047597"/>
      </dsp:txXfrm>
    </dsp:sp>
    <dsp:sp modelId="{53226C76-B37D-6740-919E-8720E2E0FB62}">
      <dsp:nvSpPr>
        <dsp:cNvPr id="0" name=""/>
        <dsp:cNvSpPr/>
      </dsp:nvSpPr>
      <dsp:spPr>
        <a:xfrm>
          <a:off x="0" y="4191028"/>
          <a:ext cx="111138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15954-E25F-9843-95F0-6FE3865AB1AA}">
      <dsp:nvSpPr>
        <dsp:cNvPr id="0" name=""/>
        <dsp:cNvSpPr/>
      </dsp:nvSpPr>
      <dsp:spPr>
        <a:xfrm>
          <a:off x="0" y="4191028"/>
          <a:ext cx="11113866" cy="1047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i="0" u="none" kern="1200" dirty="0"/>
            <a:t>E5) This dimension has political relevance and consequences. </a:t>
          </a:r>
          <a:endParaRPr lang="en-CA" sz="2400" kern="1200" dirty="0"/>
        </a:p>
      </dsp:txBody>
      <dsp:txXfrm>
        <a:off x="0" y="4191028"/>
        <a:ext cx="11113866" cy="10475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08C37-E527-0748-AC8C-C4E85E30E2AF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Issues and Ideas</a:t>
          </a:r>
        </a:p>
      </dsp:txBody>
      <dsp:txXfrm>
        <a:off x="44665" y="2106299"/>
        <a:ext cx="2060143" cy="1206068"/>
      </dsp:txXfrm>
    </dsp:sp>
    <dsp:sp modelId="{7D882609-FB8D-A344-A234-3B9EBF608F1D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355850" y="2550475"/>
        <a:ext cx="316861" cy="317716"/>
      </dsp:txXfrm>
    </dsp:sp>
    <dsp:sp modelId="{51B60DD9-528C-154E-A326-18CD12164E12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Belief systems</a:t>
          </a:r>
        </a:p>
      </dsp:txBody>
      <dsp:txXfrm>
        <a:off x="3033928" y="2106299"/>
        <a:ext cx="2060143" cy="1206068"/>
      </dsp:txXfrm>
    </dsp:sp>
    <dsp:sp modelId="{057C9B44-AD01-B641-8CD1-3A394D7CD6A9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345112" y="2550475"/>
        <a:ext cx="316861" cy="317716"/>
      </dsp:txXfrm>
    </dsp:sp>
    <dsp:sp modelId="{E2EBFC76-7CBF-164A-9648-1033EAE29560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Political Actors</a:t>
          </a:r>
        </a:p>
      </dsp:txBody>
      <dsp:txXfrm>
        <a:off x="6023190" y="2106299"/>
        <a:ext cx="2060143" cy="1206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D11FE-EEF3-7545-93D8-1DB38844BCD9}">
      <dsp:nvSpPr>
        <dsp:cNvPr id="0" name=""/>
        <dsp:cNvSpPr/>
      </dsp:nvSpPr>
      <dsp:spPr>
        <a:xfrm>
          <a:off x="6283126" y="3806126"/>
          <a:ext cx="921146" cy="438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744"/>
              </a:lnTo>
              <a:lnTo>
                <a:pt x="921146" y="298744"/>
              </a:lnTo>
              <a:lnTo>
                <a:pt x="921146" y="43838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F773F-562C-594D-8F91-399B6AD2E582}">
      <dsp:nvSpPr>
        <dsp:cNvPr id="0" name=""/>
        <dsp:cNvSpPr/>
      </dsp:nvSpPr>
      <dsp:spPr>
        <a:xfrm>
          <a:off x="5361979" y="3806126"/>
          <a:ext cx="921146" cy="438382"/>
        </a:xfrm>
        <a:custGeom>
          <a:avLst/>
          <a:gdLst/>
          <a:ahLst/>
          <a:cxnLst/>
          <a:rect l="0" t="0" r="0" b="0"/>
          <a:pathLst>
            <a:path>
              <a:moveTo>
                <a:pt x="921146" y="0"/>
              </a:moveTo>
              <a:lnTo>
                <a:pt x="921146" y="298744"/>
              </a:lnTo>
              <a:lnTo>
                <a:pt x="0" y="298744"/>
              </a:lnTo>
              <a:lnTo>
                <a:pt x="0" y="43838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83686-49C9-9D49-8752-54CF82BC3946}">
      <dsp:nvSpPr>
        <dsp:cNvPr id="0" name=""/>
        <dsp:cNvSpPr/>
      </dsp:nvSpPr>
      <dsp:spPr>
        <a:xfrm>
          <a:off x="5361979" y="2410588"/>
          <a:ext cx="921146" cy="438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744"/>
              </a:lnTo>
              <a:lnTo>
                <a:pt x="921146" y="298744"/>
              </a:lnTo>
              <a:lnTo>
                <a:pt x="921146" y="43838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D7223F-0986-AA4A-B4F9-DB5291C40473}">
      <dsp:nvSpPr>
        <dsp:cNvPr id="0" name=""/>
        <dsp:cNvSpPr/>
      </dsp:nvSpPr>
      <dsp:spPr>
        <a:xfrm>
          <a:off x="4440832" y="2410588"/>
          <a:ext cx="921146" cy="438382"/>
        </a:xfrm>
        <a:custGeom>
          <a:avLst/>
          <a:gdLst/>
          <a:ahLst/>
          <a:cxnLst/>
          <a:rect l="0" t="0" r="0" b="0"/>
          <a:pathLst>
            <a:path>
              <a:moveTo>
                <a:pt x="921146" y="0"/>
              </a:moveTo>
              <a:lnTo>
                <a:pt x="921146" y="298744"/>
              </a:lnTo>
              <a:lnTo>
                <a:pt x="0" y="298744"/>
              </a:lnTo>
              <a:lnTo>
                <a:pt x="0" y="43838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E0797E-06C2-7744-9CA8-FD7644F6E2B7}">
      <dsp:nvSpPr>
        <dsp:cNvPr id="0" name=""/>
        <dsp:cNvSpPr/>
      </dsp:nvSpPr>
      <dsp:spPr>
        <a:xfrm>
          <a:off x="3519685" y="1015051"/>
          <a:ext cx="1842293" cy="438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744"/>
              </a:lnTo>
              <a:lnTo>
                <a:pt x="1842293" y="298744"/>
              </a:lnTo>
              <a:lnTo>
                <a:pt x="1842293" y="438382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4AAB1-3B5D-054E-ACE7-BC36D48941DB}">
      <dsp:nvSpPr>
        <dsp:cNvPr id="0" name=""/>
        <dsp:cNvSpPr/>
      </dsp:nvSpPr>
      <dsp:spPr>
        <a:xfrm>
          <a:off x="1677392" y="2410588"/>
          <a:ext cx="921146" cy="438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744"/>
              </a:lnTo>
              <a:lnTo>
                <a:pt x="921146" y="298744"/>
              </a:lnTo>
              <a:lnTo>
                <a:pt x="921146" y="43838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64E708-EFF8-C043-BCF3-AEC8D507399C}">
      <dsp:nvSpPr>
        <dsp:cNvPr id="0" name=""/>
        <dsp:cNvSpPr/>
      </dsp:nvSpPr>
      <dsp:spPr>
        <a:xfrm>
          <a:off x="756245" y="2410588"/>
          <a:ext cx="921146" cy="438382"/>
        </a:xfrm>
        <a:custGeom>
          <a:avLst/>
          <a:gdLst/>
          <a:ahLst/>
          <a:cxnLst/>
          <a:rect l="0" t="0" r="0" b="0"/>
          <a:pathLst>
            <a:path>
              <a:moveTo>
                <a:pt x="921146" y="0"/>
              </a:moveTo>
              <a:lnTo>
                <a:pt x="921146" y="298744"/>
              </a:lnTo>
              <a:lnTo>
                <a:pt x="0" y="298744"/>
              </a:lnTo>
              <a:lnTo>
                <a:pt x="0" y="43838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7C821-52B6-CE4B-B77C-23A0DA5207E9}">
      <dsp:nvSpPr>
        <dsp:cNvPr id="0" name=""/>
        <dsp:cNvSpPr/>
      </dsp:nvSpPr>
      <dsp:spPr>
        <a:xfrm>
          <a:off x="1677392" y="1015051"/>
          <a:ext cx="1842293" cy="438382"/>
        </a:xfrm>
        <a:custGeom>
          <a:avLst/>
          <a:gdLst/>
          <a:ahLst/>
          <a:cxnLst/>
          <a:rect l="0" t="0" r="0" b="0"/>
          <a:pathLst>
            <a:path>
              <a:moveTo>
                <a:pt x="1842293" y="0"/>
              </a:moveTo>
              <a:lnTo>
                <a:pt x="1842293" y="298744"/>
              </a:lnTo>
              <a:lnTo>
                <a:pt x="0" y="298744"/>
              </a:lnTo>
              <a:lnTo>
                <a:pt x="0" y="438382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2927E7-1A47-E449-80F6-A4DBF9CC646A}">
      <dsp:nvSpPr>
        <dsp:cNvPr id="0" name=""/>
        <dsp:cNvSpPr/>
      </dsp:nvSpPr>
      <dsp:spPr>
        <a:xfrm>
          <a:off x="2766020" y="57895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69362-FA56-E949-BE4F-8CFC9F80FE50}">
      <dsp:nvSpPr>
        <dsp:cNvPr id="0" name=""/>
        <dsp:cNvSpPr/>
      </dsp:nvSpPr>
      <dsp:spPr>
        <a:xfrm>
          <a:off x="2933501" y="217003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Support Military Aid to Ukraine</a:t>
          </a:r>
        </a:p>
      </dsp:txBody>
      <dsp:txXfrm>
        <a:off x="2961535" y="245037"/>
        <a:ext cx="1451263" cy="901087"/>
      </dsp:txXfrm>
    </dsp:sp>
    <dsp:sp modelId="{89991F47-0DFF-214A-8349-3279F905A25D}">
      <dsp:nvSpPr>
        <dsp:cNvPr id="0" name=""/>
        <dsp:cNvSpPr/>
      </dsp:nvSpPr>
      <dsp:spPr>
        <a:xfrm>
          <a:off x="923726" y="1453433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8212C-886C-3B45-82C8-753C27B8D403}">
      <dsp:nvSpPr>
        <dsp:cNvPr id="0" name=""/>
        <dsp:cNvSpPr/>
      </dsp:nvSpPr>
      <dsp:spPr>
        <a:xfrm>
          <a:off x="1091207" y="1612540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European Countries should invest in trade and diplomacy</a:t>
          </a:r>
        </a:p>
      </dsp:txBody>
      <dsp:txXfrm>
        <a:off x="1119241" y="1640574"/>
        <a:ext cx="1451263" cy="901087"/>
      </dsp:txXfrm>
    </dsp:sp>
    <dsp:sp modelId="{6E0D019E-C0CD-3443-9BF0-89D13D5E8982}">
      <dsp:nvSpPr>
        <dsp:cNvPr id="0" name=""/>
        <dsp:cNvSpPr/>
      </dsp:nvSpPr>
      <dsp:spPr>
        <a:xfrm>
          <a:off x="2579" y="2848970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D7A22-D83E-8943-9431-954A5C2CFE9F}">
      <dsp:nvSpPr>
        <dsp:cNvPr id="0" name=""/>
        <dsp:cNvSpPr/>
      </dsp:nvSpPr>
      <dsp:spPr>
        <a:xfrm>
          <a:off x="170060" y="3008078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Domestic Distracted</a:t>
          </a:r>
        </a:p>
      </dsp:txBody>
      <dsp:txXfrm>
        <a:off x="198094" y="3036112"/>
        <a:ext cx="1451263" cy="901087"/>
      </dsp:txXfrm>
    </dsp:sp>
    <dsp:sp modelId="{C42F73EC-C811-BC43-8E8F-19883F870189}">
      <dsp:nvSpPr>
        <dsp:cNvPr id="0" name=""/>
        <dsp:cNvSpPr/>
      </dsp:nvSpPr>
      <dsp:spPr>
        <a:xfrm>
          <a:off x="1844873" y="2848970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E0F5B-4D72-414F-8E53-3336FAD8614E}">
      <dsp:nvSpPr>
        <dsp:cNvPr id="0" name=""/>
        <dsp:cNvSpPr/>
      </dsp:nvSpPr>
      <dsp:spPr>
        <a:xfrm>
          <a:off x="2012354" y="3008078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Russian Collaborator</a:t>
          </a:r>
        </a:p>
      </dsp:txBody>
      <dsp:txXfrm>
        <a:off x="2040388" y="3036112"/>
        <a:ext cx="1451263" cy="901087"/>
      </dsp:txXfrm>
    </dsp:sp>
    <dsp:sp modelId="{5B2B810C-6422-C84C-9C39-74682B350E55}">
      <dsp:nvSpPr>
        <dsp:cNvPr id="0" name=""/>
        <dsp:cNvSpPr/>
      </dsp:nvSpPr>
      <dsp:spPr>
        <a:xfrm>
          <a:off x="4608314" y="1453433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62D44-C585-A941-829E-69B3115E5DD8}">
      <dsp:nvSpPr>
        <dsp:cNvPr id="0" name=""/>
        <dsp:cNvSpPr/>
      </dsp:nvSpPr>
      <dsp:spPr>
        <a:xfrm>
          <a:off x="4775795" y="1612540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Willing to Accept Higher Energy Costs</a:t>
          </a:r>
        </a:p>
      </dsp:txBody>
      <dsp:txXfrm>
        <a:off x="4803829" y="1640574"/>
        <a:ext cx="1451263" cy="901087"/>
      </dsp:txXfrm>
    </dsp:sp>
    <dsp:sp modelId="{D074DEDB-D6BB-D248-9B88-0DD4FB370A5A}">
      <dsp:nvSpPr>
        <dsp:cNvPr id="0" name=""/>
        <dsp:cNvSpPr/>
      </dsp:nvSpPr>
      <dsp:spPr>
        <a:xfrm>
          <a:off x="3687167" y="2848970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C00E6-006F-CC47-9889-0EC2F33761AF}">
      <dsp:nvSpPr>
        <dsp:cNvPr id="0" name=""/>
        <dsp:cNvSpPr/>
      </dsp:nvSpPr>
      <dsp:spPr>
        <a:xfrm>
          <a:off x="3854648" y="3008078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Conditional Ukraine Support</a:t>
          </a:r>
        </a:p>
      </dsp:txBody>
      <dsp:txXfrm>
        <a:off x="3882682" y="3036112"/>
        <a:ext cx="1451263" cy="901087"/>
      </dsp:txXfrm>
    </dsp:sp>
    <dsp:sp modelId="{5E6F254A-0E12-D54C-B765-D55DD08B035D}">
      <dsp:nvSpPr>
        <dsp:cNvPr id="0" name=""/>
        <dsp:cNvSpPr/>
      </dsp:nvSpPr>
      <dsp:spPr>
        <a:xfrm>
          <a:off x="5529460" y="2848970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7E7EF-E9C6-4747-B012-9FF30AB94B5E}">
      <dsp:nvSpPr>
        <dsp:cNvPr id="0" name=""/>
        <dsp:cNvSpPr/>
      </dsp:nvSpPr>
      <dsp:spPr>
        <a:xfrm>
          <a:off x="5696942" y="3008078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 noProof="1"/>
            <a:t>European countries should invest in defence and security</a:t>
          </a:r>
        </a:p>
      </dsp:txBody>
      <dsp:txXfrm>
        <a:off x="5724976" y="3036112"/>
        <a:ext cx="1451263" cy="901087"/>
      </dsp:txXfrm>
    </dsp:sp>
    <dsp:sp modelId="{1736D2AD-07E7-C843-91F6-CE28521CCFF4}">
      <dsp:nvSpPr>
        <dsp:cNvPr id="0" name=""/>
        <dsp:cNvSpPr/>
      </dsp:nvSpPr>
      <dsp:spPr>
        <a:xfrm>
          <a:off x="4608314" y="4244508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3A57A-48EE-5242-BD9B-52CB2AF1E318}">
      <dsp:nvSpPr>
        <dsp:cNvPr id="0" name=""/>
        <dsp:cNvSpPr/>
      </dsp:nvSpPr>
      <dsp:spPr>
        <a:xfrm>
          <a:off x="4775795" y="4403615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Domestic Distracted</a:t>
          </a:r>
        </a:p>
      </dsp:txBody>
      <dsp:txXfrm>
        <a:off x="4803829" y="4431649"/>
        <a:ext cx="1451263" cy="901087"/>
      </dsp:txXfrm>
    </dsp:sp>
    <dsp:sp modelId="{EAC4E35C-0109-4F47-8608-02C331E54B02}">
      <dsp:nvSpPr>
        <dsp:cNvPr id="0" name=""/>
        <dsp:cNvSpPr/>
      </dsp:nvSpPr>
      <dsp:spPr>
        <a:xfrm>
          <a:off x="6450607" y="4244508"/>
          <a:ext cx="1507331" cy="9571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8C858-E905-844A-AC25-A05399512C75}">
      <dsp:nvSpPr>
        <dsp:cNvPr id="0" name=""/>
        <dsp:cNvSpPr/>
      </dsp:nvSpPr>
      <dsp:spPr>
        <a:xfrm>
          <a:off x="6618089" y="4403615"/>
          <a:ext cx="1507331" cy="95715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Security Focused</a:t>
          </a:r>
        </a:p>
      </dsp:txBody>
      <dsp:txXfrm>
        <a:off x="6646123" y="4431649"/>
        <a:ext cx="1451263" cy="901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7070AF2-D1A2-4FDD-9A79-847EABFA3DFB}" type="datetimeFigureOut">
              <a:rPr lang="en-CA" smtClean="0"/>
              <a:t>2026-05-17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DE132BC-4C56-4415-B028-2D51E7025E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420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 FOR DISSEMINATION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3940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4887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A8334-0EF2-062E-D10E-811D62F7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B5025-2AF1-6280-2789-954E2C7D9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13DA1-0DAA-FA74-9C78-68CBF573F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67419-18EC-7646-0AE5-38371A190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4702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3581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020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DED23-BCF1-C55E-22EE-B9EF1F65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8D3CB-1B43-19C3-1E98-77FD401A5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82364-4A86-E800-39EE-7685F9705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8D321-5BAC-75E5-F89A-1E1B3EA63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3343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1070-2882-7F34-8E96-D36FABA3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6B008-D3E0-C1A1-168C-0D162D8A4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680A8-7E8F-199A-605D-88498C757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6C88-8BEC-C1C4-CED1-0FC747EB5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8186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2DD4-A148-1977-233F-703AB6A1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8CDA1-5914-6FA6-B2DD-50CB36112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7BF74-CF49-E48A-694A-71FF46432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AC23D-2D2D-27F8-A38B-5AE45F8FB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3409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6287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Mean value of security-collaboration index for each group.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0505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C0B9-0DE7-C1BD-5923-257C1284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44D63-00FF-3DD7-F1BC-1DADD1633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1ACF3-3295-2F98-1805-CA2FAD96F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Mean value of security-collaboration index for each group.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BEFEC-8195-331B-1608-6D3B3268D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2722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CA4E-5389-5CF3-65C7-C7CA03AF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0819E-FD3B-BD1C-2C90-F16383841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09EF5-4ED9-BB76-D296-306652DDE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Mean value of security-collaboration index for those who support NATO and EU and NATO membership and those who do not and those who trust the EU and those who do not.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0BC36-365B-6AFB-8D00-DC69D79F4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467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0D4B-DD48-F278-5980-E7736117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B776C-D400-1E5E-5BF9-DB945603B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1D77E-0D0D-355E-524A-6428F7090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Mean value of security-collaboration index for those who support NATO and EU and NATO membership and those who do not and those who trust the EU and those who do not.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E9F3-7F30-9A5D-D5AC-5893CD48C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2267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DD99-70AE-32FC-E96C-A3D089F5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D34BC-CC18-2BFD-32BC-B99EE9AB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3D6FF-CDA7-BE72-247A-EE01D74E5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Regression model: Key variable + Gender + Education + country fixed effects + year fixed effects. </a:t>
            </a:r>
          </a:p>
          <a:p>
            <a:r>
              <a:rPr lang="en-CA" dirty="0"/>
              <a:t>All variables are scaled from 0-1</a:t>
            </a:r>
            <a:br>
              <a:rPr lang="en-CA" dirty="0"/>
            </a:br>
            <a:r>
              <a:rPr lang="en-CA" dirty="0"/>
              <a:t>Support for EU membership, vote to stay (1) vote to leave (0)</a:t>
            </a:r>
          </a:p>
          <a:p>
            <a:r>
              <a:rPr lang="en-CA" dirty="0"/>
              <a:t>Left-right Most right-wing position (1) most left—wing position (0)</a:t>
            </a:r>
          </a:p>
          <a:p>
            <a:r>
              <a:rPr lang="en-CA" dirty="0"/>
              <a:t>GAL-TAN Most Gal position (1) Most TAN position (0)</a:t>
            </a:r>
            <a:br>
              <a:rPr lang="en-CA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D829E-2243-407A-6764-D9242A0C9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9077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C0240-4909-9747-363A-7D299E746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E0A29-0334-EDCA-82A1-AB8F66CBA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699CE-02B1-42D3-23C5-C79D61981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Full Model: Security-Collaboration Factor, Left-Right self placement, EU membership, GAL-TAN, gender, education, country and year fixed effects</a:t>
            </a:r>
          </a:p>
          <a:p>
            <a:r>
              <a:rPr lang="en-CA" dirty="0"/>
              <a:t>Slopes:</a:t>
            </a:r>
          </a:p>
          <a:p>
            <a:r>
              <a:rPr lang="en-CA" dirty="0"/>
              <a:t>Radical Right: 0.03 (p &lt; 0.001)</a:t>
            </a:r>
          </a:p>
          <a:p>
            <a:r>
              <a:rPr lang="en-CA" dirty="0"/>
              <a:t>Radical Left: 0.015 (p &lt; 0.001)</a:t>
            </a:r>
          </a:p>
          <a:p>
            <a:r>
              <a:rPr lang="en-CA" dirty="0"/>
              <a:t>Conservative: -0.011 (p &lt; 0.001)</a:t>
            </a:r>
          </a:p>
          <a:p>
            <a:r>
              <a:rPr lang="en-CA" dirty="0"/>
              <a:t>Liberal: -0.019 (p &lt; 0.001)</a:t>
            </a:r>
          </a:p>
          <a:p>
            <a:r>
              <a:rPr lang="en-CA" dirty="0"/>
              <a:t>Socialist: -0.007 (p – 0.003)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67BF5-CC1C-C88E-F750-DE9253156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8158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48D93-2532-E3BE-7822-B91E2FAB0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0428C-1230-74E9-EDF9-9CAA12276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08E8F-F026-3EB1-A339-5358045DD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Average Security-collaboration score for supporters of each party and kremlin ties of each party from 2023  Ukraine Special CHES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CBC6A-F05B-617C-47B0-7329B684B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2857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7125-2AE0-7937-8DD5-DB95E750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C1A0D-0C9B-D3FB-9114-6B5A99457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F4803-3C94-C443-5A0C-379679A9B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EU position and kremlin ties of each party from the 2023 Ukraine special 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6E4E5-8CB2-0B39-3901-909F8C821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8036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06165-74AC-9475-E900-8BAF84C7F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C584A-5BC8-3361-EACB-E7C9D2D72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398DE-A284-D016-F651-65B20DFC6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Full Model: Security-Collaboration Factor, Left-Right self placement, EU membership, GAL-TAN, gender, education, year fixed effects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32CE5-F171-5275-F428-7A09BA0F7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3905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F307A-C358-E7E5-C22E-88965B29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CE3C0-8D49-0412-4A76-3918DB251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52579-8CDF-050E-79D1-06AD9206E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Full Model: Security-Collaboration Factor, Left-Right self placement, EU membership, GAL-TAN, gender, education, year fixed effects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344F6-35AE-B30D-467B-CD696B667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090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D9A9-440F-640C-FFC0-36DC8E99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CCD8F-FE1A-0697-C8AE-B0475261E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6A326-C516-D796-1B30-DA14E79B2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Full Model: Security-Collaboration Factor, Left-Right self placement, EU membership (not UK), GAL-TAN, gender, education, year fixed effects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29E30-4692-6B9F-EA34-06AEE48E5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953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8704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2376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18BE-2436-4B97-E9F0-6DF50698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99F54-A341-4EEE-D2B3-7172CB53B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3E4D8-9120-9829-C9FB-EDCD2818E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0B1CB-EED4-2782-14B7-44E7AF252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4855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6112-2512-FE79-169E-4673A6523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AA6ED-BCC0-D6D5-5154-5ADBA378A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E2773-19CD-7160-15AF-84B4D40C0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ECF9D-38F5-0C97-C77A-2657FDB06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1042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121B-8EB1-8B5D-D900-65B1EAE4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3EE7F-13B9-ED2B-19CB-92C329D3A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5F777-3380-103C-0DFB-17A797C59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65332-F104-42B6-E4A2-D6046CF9F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95579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46D7B-1154-723A-BD1B-C21B3195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977AD-892F-4A6C-A9E2-190CD5D37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A6D13-8EFE-7C95-7CA7-13E9AB2D8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32F03-A1EE-5AC9-AC03-51D32497F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15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E91B-9E28-401C-F997-4FFA98AC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B444E-F38D-B5AE-70A2-148EB1F4F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301BC-5BB2-73A4-AB57-735F7BE71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7D49C-8AAD-51DD-1EED-82E7CE167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80338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0B239-32B4-D042-094D-4D0F26CC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DFD8B-0F84-8E18-4E51-11FBFFAFA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F0157-3CC4-AE63-A9A0-0482A7AFD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09DB9-701D-5645-F9FA-34D4532C1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56966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368F4-23E2-4A37-23E2-E1F40036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A28F6-73F3-B2A2-901D-251BBC292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46E4C-BB04-D9CA-5E94-C3124A634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E6B15-9BE9-D7DE-25E7-79C041CB7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1262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5839-C5CD-6768-00E4-2127B440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5FD5C-241A-4CEF-9A80-C47BBB8F6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F380C-4389-CA29-DE99-63AF53B05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6859B-90D8-B084-07EE-2CE8FCF2C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36846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E1DE4-5A97-CF4C-1131-3678925D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B3947-CDEB-071A-940B-B3C087021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3774-31A5-534C-E4E4-4A9629C75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620A2-E033-C891-14D3-EB245998F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68590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7439B-3C23-EB71-6C9D-7614F4FE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82266-181D-0A85-71BD-8E82C8F80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39E30-3D2D-77FA-D976-E85808E96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27F4D-A8AD-F1DC-3536-4A3A28CDB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8186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75F69-7F15-64C7-21D4-E01AADBC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83B86-157F-6D97-4F4D-0BD2FA9BF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4FEE8-93A2-798A-B32F-DB6C38CFD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14680-9380-F4F4-20BC-CB5313056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7730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A6A6C-A184-53C7-038C-7FCF5621E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CEB3B-2067-1323-BA0E-6D0964979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C9D54-D597-5780-41D9-F62E15478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3BC4C-A7BC-02A0-DD3B-ACEA745BB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72441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7BB9-2401-7B44-2CDE-631F7F47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8232A-A257-982F-0F9D-15AD78ED5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AF579-BAAC-4087-C3CE-7223F1A5B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EF8D7-6C06-7DE4-A347-20CB6DADD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7918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CF5D4-1A7B-1265-E419-E35E84B8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F5560-AA4B-5DDB-6A97-FC7661373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D0BD1-80B8-11E7-F3E0-90BF67F02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C6AF6-03D3-59A7-8AED-E2655F4F1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132BC-4C56-4415-B028-2D51E7025E02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9755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5D07F-D9E6-E845-ABAE-C496A55B9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557" y="1412102"/>
            <a:ext cx="6940267" cy="2387600"/>
          </a:xfrm>
          <a:noFill/>
        </p:spPr>
        <p:txBody>
          <a:bodyPr wrap="square" lIns="0" anchor="t" anchorCtr="0">
            <a:norm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838330-9B46-2B4A-88CB-BBA6492EC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557" y="4030371"/>
            <a:ext cx="5150536" cy="1567240"/>
          </a:xfrm>
        </p:spPr>
        <p:txBody>
          <a:bodyPr lIns="0" anchor="t" anchorCtr="0"/>
          <a:lstStyle>
            <a:lvl1pPr marL="0" indent="0" algn="l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044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78EB0-7FFF-D243-87E2-2C4100C0E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7" y="1152761"/>
            <a:ext cx="10699187" cy="132556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133987-260A-A94D-B9A9-1EA7E495E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7" y="2730926"/>
            <a:ext cx="10699187" cy="3189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C0C721-1EDF-CD47-929B-E9BD70E1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2682" y="6076353"/>
            <a:ext cx="450935" cy="365125"/>
          </a:xfrm>
        </p:spPr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1085A88C-3371-1346-B902-FE0F5CCDD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508" y="613078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258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1E003-4354-BE4E-BAD0-09E4E55E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95" y="1332552"/>
            <a:ext cx="10729871" cy="2852737"/>
          </a:xfrm>
        </p:spPr>
        <p:txBody>
          <a:bodyPr anchor="t" anchorCtr="0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944C37-D002-7249-9671-D115B419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295" y="4425637"/>
            <a:ext cx="1072987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CA001B-E590-9546-A1BC-8E7E3A7E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93CD924F-B0BA-D34B-8679-987480628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62916" y="613351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2836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740FF-768D-984E-A5D5-98DDBC4B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EBD72F-C901-A14A-9976-65B5E5266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021" y="2685331"/>
            <a:ext cx="5249779" cy="33974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A9CD86-F882-1A4D-B8DD-0844ABD0E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85327"/>
            <a:ext cx="5304184" cy="3397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91928A-0B92-C448-AFD4-C264B270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87F0BD42-BA2E-714B-B522-8E9F0B875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62400" y="61289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988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44C7F-EBDA-A24F-9D47-56A545BC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435" y="1076860"/>
            <a:ext cx="1071472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434399-C56C-D944-99F0-CDFA8724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436" y="2575901"/>
            <a:ext cx="52890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B094BD-D882-8B4A-B574-0E863B8CF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436" y="3550449"/>
            <a:ext cx="5289003" cy="2495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6343CEE-F82C-2847-B3BB-2F7BA34FB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7561" y="2575901"/>
            <a:ext cx="5302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9B9E527-557A-8844-884D-2B9E10013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57561" y="3550449"/>
            <a:ext cx="5302603" cy="2495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915A4B-1670-7142-8981-F9E8B8C0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E1824371-E7C3-EB40-81A2-200ECB3841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764367" y="6141669"/>
            <a:ext cx="4155744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81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4F637-1308-664C-83B4-FA3A5C5F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E102C0-E24E-E349-A2A5-1AC8458C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EC2D1B76-8B8D-8D4A-8189-7108E90AB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6408" y="61416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281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38ACD2-C9D8-5442-BE0B-F65DAA9A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BC88E4-43E3-4848-BE02-F9F0F284F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16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218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7EF2B-C263-964F-9EEB-6EE87EEA6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46" y="1180620"/>
            <a:ext cx="4278881" cy="1407007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4DC231-D60C-4B40-8F93-3EA127AAE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090" y="1177441"/>
            <a:ext cx="3421551" cy="46883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FB91F3-F429-714F-93EA-25BF9C708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3146" y="2754778"/>
            <a:ext cx="4278881" cy="311421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425F79-DD28-5D40-BD54-BD567D0C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F2869BA2-D0C4-E546-BFB4-992AFCA69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16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6939CAF-0F22-644B-A275-1944B76254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447059" y="1180621"/>
            <a:ext cx="3010468" cy="224838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35388C7D-5BB4-704B-8D60-3D827BB08F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447059" y="3528646"/>
            <a:ext cx="3010468" cy="2340342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3715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5980C-B0AE-584D-B812-F230492A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7" y="987425"/>
            <a:ext cx="4687323" cy="1408534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617446-3B88-DD40-BC8F-9AC1CD441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00702" y="987429"/>
            <a:ext cx="585946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71A45F-B5D7-0D40-9164-03C3CF422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0977" y="2546430"/>
            <a:ext cx="4687323" cy="332255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57988F-65C2-A242-8902-38001BE9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A1BD20AF-6FDF-694F-8BBB-BAF5BFBC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16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27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617446-3B88-DD40-BC8F-9AC1CD441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00702" y="987426"/>
            <a:ext cx="5859463" cy="2156054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57988F-65C2-A242-8902-38001BE9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A1BD20AF-6FDF-694F-8BBB-BAF5BFBC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16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Marcador de posición de imagen 2">
            <a:extLst>
              <a:ext uri="{FF2B5EF4-FFF2-40B4-BE49-F238E27FC236}">
                <a16:creationId xmlns:a16="http://schemas.microsoft.com/office/drawing/2014/main" id="{F27B96D6-59E0-D14C-82BF-94DBA4C75E6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74715" y="987429"/>
            <a:ext cx="454977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s-ES"/>
          </a:p>
        </p:txBody>
      </p:sp>
      <p:sp>
        <p:nvSpPr>
          <p:cNvPr id="10" name="Marcador de posición de imagen 2">
            <a:extLst>
              <a:ext uri="{FF2B5EF4-FFF2-40B4-BE49-F238E27FC236}">
                <a16:creationId xmlns:a16="http://schemas.microsoft.com/office/drawing/2014/main" id="{6D5BA7C9-59E2-5942-B6A2-525CBCA9063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600702" y="3303820"/>
            <a:ext cx="5859463" cy="2557233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99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56A72-C98F-E741-AC4E-26A159CD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DFAC3D-E137-3444-AC1A-D6879E2B0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EE16B5-B918-5E43-91B5-2204959A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8988F3EA-C852-F14C-ABB6-86035C9CA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378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600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64D801-4D0C-F647-AD55-976FC10FA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1146411"/>
            <a:ext cx="2735263" cy="4763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47500-C1C1-0C48-8E36-0A8847A5D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74713" y="1146414"/>
            <a:ext cx="7697787" cy="47630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F95EA-C615-C54E-903A-00253A22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9200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224883-BAD4-ED4E-A8D0-FF3E0A4D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038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B6CA309-E17A-2B44-85BE-A3856B25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3" y="1152761"/>
            <a:ext cx="1069014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1D2B88-EA5F-F340-83EC-5CE5D16C8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0023" y="2725951"/>
            <a:ext cx="10690143" cy="3194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1A8EE-456F-8E45-ACEA-FDC28B223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8870" y="6076351"/>
            <a:ext cx="450935" cy="365125"/>
          </a:xfrm>
          <a:prstGeom prst="rect">
            <a:avLst/>
          </a:prstGeom>
        </p:spPr>
        <p:txBody>
          <a:bodyPr vert="horz" lIns="91440" tIns="45720" rIns="91440" bIns="45720" rtlCol="0" anchor="b" anchorCtr="1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EE6E458D-C1B0-4E20-B305-42DCFEAC7DAB}" type="slidenum">
              <a:rPr lang="en-CA" smtClean="0"/>
              <a:t>‹#›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52F14F-3A0B-CE46-8BBB-70A85C274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7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 anchorCtr="1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444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  <p15:guide id="2" pos="73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18/10/relationships/comments" Target="../comments/modernComment_102_C4698498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ED_EE6EB35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4_62B5A0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6_1F34E63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99E6-528C-C494-82F2-A7BF3A92B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570" y="1262221"/>
            <a:ext cx="7538817" cy="2321637"/>
          </a:xfrm>
        </p:spPr>
        <p:txBody>
          <a:bodyPr>
            <a:noAutofit/>
          </a:bodyPr>
          <a:lstStyle/>
          <a:p>
            <a:r>
              <a:rPr lang="en-CA" sz="4400" dirty="0">
                <a:latin typeface="Aharoni" panose="02010803020104030203" pitchFamily="2" charset="-79"/>
                <a:cs typeface="Aharoni" panose="02010803020104030203" pitchFamily="2" charset="-79"/>
              </a:rPr>
              <a:t>European Solidarity under Strain? Political Divides over Russia and Ukraine in Europe </a:t>
            </a:r>
            <a:endParaRPr lang="en-CA" sz="4400" noProof="0" dirty="0">
              <a:solidFill>
                <a:schemeClr val="accent6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3BFC9-9747-4134-20D7-952EAA021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570" y="3749449"/>
            <a:ext cx="4712043" cy="2533716"/>
          </a:xfrm>
        </p:spPr>
        <p:txBody>
          <a:bodyPr>
            <a:normAutofit/>
          </a:bodyPr>
          <a:lstStyle/>
          <a:p>
            <a:r>
              <a:rPr lang="en-CA" sz="2900" b="1" noProof="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ea typeface="Times New Roman" panose="02020603050405020304" pitchFamily="18" charset="0"/>
                <a:cs typeface="Aharoni" panose="02010803020104030203" pitchFamily="2" charset="-79"/>
              </a:rPr>
              <a:t>Dietlind Stolle,</a:t>
            </a:r>
          </a:p>
          <a:p>
            <a:r>
              <a:rPr lang="en-CA" sz="2900" b="1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Maria Popova,</a:t>
            </a:r>
          </a:p>
          <a:p>
            <a:r>
              <a:rPr lang="en-CA" sz="2900" b="1" noProof="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Rafael Campos-Gottardo</a:t>
            </a:r>
          </a:p>
          <a:p>
            <a:r>
              <a:rPr lang="en-CA" sz="20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(McGill University)</a:t>
            </a:r>
            <a:endParaRPr lang="en-CA" sz="2000" noProof="0" dirty="0">
              <a:solidFill>
                <a:schemeClr val="accent6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CA" noProof="0" dirty="0">
              <a:solidFill>
                <a:schemeClr val="accent6">
                  <a:lumMod val="50000"/>
                </a:schemeClr>
              </a:solidFill>
              <a:latin typeface="BT Beau Sans" pitchFamily="2" charset="0"/>
              <a:cs typeface="BT Beau Sans" pitchFamily="2" charset="0"/>
            </a:endParaRPr>
          </a:p>
          <a:p>
            <a:endParaRPr lang="en-CA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827D84-17C3-CDBC-CB3B-8ED008F3517A}"/>
              </a:ext>
            </a:extLst>
          </p:cNvPr>
          <p:cNvGrpSpPr/>
          <p:nvPr/>
        </p:nvGrpSpPr>
        <p:grpSpPr>
          <a:xfrm>
            <a:off x="9905733" y="0"/>
            <a:ext cx="2183028" cy="1630194"/>
            <a:chOff x="10454606" y="-359605"/>
            <a:chExt cx="2443788" cy="1671860"/>
          </a:xfrm>
        </p:grpSpPr>
        <p:pic>
          <p:nvPicPr>
            <p:cNvPr id="4" name="Picture 3" descr="See the source image">
              <a:extLst>
                <a:ext uri="{FF2B5EF4-FFF2-40B4-BE49-F238E27FC236}">
                  <a16:creationId xmlns:a16="http://schemas.microsoft.com/office/drawing/2014/main" id="{30B96FFF-8707-C52E-EB52-49C1CBECD4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54606" y="-359605"/>
              <a:ext cx="2443788" cy="1294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8DFB341D-4E76-9A42-0F5A-01D86EEAA6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54606" y="712128"/>
              <a:ext cx="2443788" cy="600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321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2821-4345-A549-999D-601B2AB3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343" y="270070"/>
            <a:ext cx="10699187" cy="1325563"/>
          </a:xfrm>
        </p:spPr>
        <p:txBody>
          <a:bodyPr/>
          <a:lstStyle/>
          <a:p>
            <a:r>
              <a:rPr lang="en-CA" noProof="0" dirty="0">
                <a:solidFill>
                  <a:schemeClr val="accent6">
                    <a:lumMod val="50000"/>
                  </a:schemeClr>
                </a:solidFill>
              </a:rPr>
              <a:t>Our Arguments in a Nutshell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C2D054-21C8-322B-1B38-657B431ACA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159967"/>
              </p:ext>
            </p:extLst>
          </p:nvPr>
        </p:nvGraphicFramePr>
        <p:xfrm>
          <a:off x="746406" y="932851"/>
          <a:ext cx="10699187" cy="5092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952495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CA706-9DC2-F76D-1417-0927158C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BBFE8-A275-A937-FA16-4989688C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" y="965818"/>
            <a:ext cx="11972925" cy="1325563"/>
          </a:xfrm>
        </p:spPr>
        <p:txBody>
          <a:bodyPr/>
          <a:lstStyle/>
          <a:p>
            <a:r>
              <a:rPr lang="en-CA" noProof="0" dirty="0">
                <a:solidFill>
                  <a:schemeClr val="accent6">
                    <a:lumMod val="50000"/>
                  </a:schemeClr>
                </a:solidFill>
              </a:rPr>
              <a:t>The potency of the Europe-Russia cleavage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ACA34-9224-83F0-BAEC-6406EA1C6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87" y="1952450"/>
            <a:ext cx="10699187" cy="31898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en-US" dirty="0"/>
              <a:t>Modern cleavages are based on individuals’ belief systems </a:t>
            </a:r>
            <a:r>
              <a:rPr lang="en-US" sz="1800" dirty="0"/>
              <a:t>(Brandt et al. 2021; </a:t>
            </a:r>
            <a:r>
              <a:rPr lang="en-CA" sz="1800" dirty="0"/>
              <a:t>Zuckerman, 1975)</a:t>
            </a:r>
            <a:r>
              <a:rPr lang="en-US" dirty="0"/>
              <a:t>.</a:t>
            </a:r>
          </a:p>
          <a:p>
            <a:pPr marL="227965" indent="-227965"/>
            <a:r>
              <a:rPr lang="en-US" dirty="0"/>
              <a:t>External threats increase salience for security and foreign policy concerns </a:t>
            </a:r>
            <a:r>
              <a:rPr lang="en-CA" sz="1800" dirty="0"/>
              <a:t>(Huddy et al. 2005; </a:t>
            </a:r>
            <a:r>
              <a:rPr lang="en-CA" sz="1800" dirty="0" err="1"/>
              <a:t>Gadarian</a:t>
            </a:r>
            <a:r>
              <a:rPr lang="en-CA" sz="1800" dirty="0"/>
              <a:t> 2010; Gelpi, Feaver, and Reifler 2009)</a:t>
            </a:r>
            <a:r>
              <a:rPr lang="en-US" sz="1800" dirty="0"/>
              <a:t>. </a:t>
            </a:r>
          </a:p>
          <a:p>
            <a:r>
              <a:rPr lang="en-US" dirty="0"/>
              <a:t> Sustained threats and crises can amplify existing dimensions of conflict.  </a:t>
            </a:r>
          </a:p>
          <a:p>
            <a:pPr marL="227965" indent="-227965"/>
            <a:r>
              <a:rPr lang="en-US" dirty="0"/>
              <a:t>Europe has constructed itself as liberal and democratic, while Russia is constructed as an illiberal “Other” </a:t>
            </a:r>
            <a:r>
              <a:rPr lang="en-CA" sz="1800" dirty="0"/>
              <a:t>(Neumann 1996, </a:t>
            </a:r>
            <a:r>
              <a:rPr lang="en-CA" sz="1800" dirty="0" err="1"/>
              <a:t>Rumelili</a:t>
            </a:r>
            <a:r>
              <a:rPr lang="en-CA" sz="1800" dirty="0"/>
              <a:t> 2004, </a:t>
            </a:r>
            <a:r>
              <a:rPr lang="en-CA" sz="1800" dirty="0" err="1"/>
              <a:t>Vachudova</a:t>
            </a:r>
            <a:r>
              <a:rPr lang="en-CA" sz="1800" dirty="0"/>
              <a:t> 2005, </a:t>
            </a:r>
            <a:r>
              <a:rPr lang="en-CA" sz="1800" dirty="0" err="1"/>
              <a:t>Zarakol</a:t>
            </a:r>
            <a:r>
              <a:rPr lang="en-CA" sz="1800" dirty="0"/>
              <a:t> 2011, DeBardeleben 2012)</a:t>
            </a:r>
            <a:r>
              <a:rPr lang="en-US" sz="1800" dirty="0"/>
              <a:t>.  </a:t>
            </a:r>
            <a:endParaRPr lang="en-US" sz="1800" dirty="0">
              <a:cs typeface="Arial"/>
            </a:endParaRP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66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FD06-7226-DF55-35C1-D3CBE891C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06" y="955953"/>
            <a:ext cx="10699187" cy="1325563"/>
          </a:xfrm>
        </p:spPr>
        <p:txBody>
          <a:bodyPr/>
          <a:lstStyle/>
          <a:p>
            <a:r>
              <a:rPr lang="en-CA" noProof="0" dirty="0">
                <a:solidFill>
                  <a:schemeClr val="accent6">
                    <a:lumMod val="50000"/>
                  </a:schemeClr>
                </a:solidFill>
              </a:rPr>
              <a:t>Expectations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7DE563-7080-3720-EAA8-7D1017B456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250590"/>
              </p:ext>
            </p:extLst>
          </p:nvPr>
        </p:nvGraphicFramePr>
        <p:xfrm>
          <a:off x="455295" y="1618735"/>
          <a:ext cx="11113866" cy="5239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3460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266C93-7F8F-7B35-4F1C-B9FA8E05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94" y="1005994"/>
            <a:ext cx="10729871" cy="1193509"/>
          </a:xfrm>
        </p:spPr>
        <p:txBody>
          <a:bodyPr/>
          <a:lstStyle/>
          <a:p>
            <a:r>
              <a:rPr lang="en-CA" noProof="0" dirty="0">
                <a:solidFill>
                  <a:schemeClr val="accent6">
                    <a:lumMod val="50000"/>
                  </a:schemeClr>
                </a:solidFill>
                <a:latin typeface="BT Beau Sans Extra Bold" pitchFamily="2" charset="0"/>
                <a:cs typeface="BT Beau Sans Extra Bold" pitchFamily="2" charset="0"/>
              </a:rPr>
              <a:t>Data</a:t>
            </a:r>
            <a:endParaRPr lang="en-CA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42C17B5-9837-6FEA-5D3F-4F8397532EFA}"/>
              </a:ext>
            </a:extLst>
          </p:cNvPr>
          <p:cNvSpPr txBox="1">
            <a:spLocks/>
          </p:cNvSpPr>
          <p:nvPr/>
        </p:nvSpPr>
        <p:spPr>
          <a:xfrm>
            <a:off x="414987" y="195245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19D0BB1-531B-00CD-D425-84A2A1342081}"/>
              </a:ext>
            </a:extLst>
          </p:cNvPr>
          <p:cNvSpPr txBox="1">
            <a:spLocks/>
          </p:cNvSpPr>
          <p:nvPr/>
        </p:nvSpPr>
        <p:spPr>
          <a:xfrm>
            <a:off x="567387" y="210485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1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EUI YouGov Solidarity in Europe Study (2022, 2023, 2024, and 2025 waves).</a:t>
            </a:r>
          </a:p>
          <a:p>
            <a:pPr marL="34291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1,000 to 2,000 respondents per country across 22 countries (</a:t>
            </a:r>
            <a:r>
              <a:rPr lang="en-US" i="1" dirty="0">
                <a:solidFill>
                  <a:schemeClr val="tx1"/>
                </a:solidFill>
              </a:rPr>
              <a:t>N = </a:t>
            </a:r>
            <a:r>
              <a:rPr lang="en-US" dirty="0">
                <a:solidFill>
                  <a:schemeClr val="tx1"/>
                </a:solidFill>
              </a:rPr>
              <a:t>96,619).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2022 Countries: UK, Denmark, Greece, Hungary, Lithuania, Italy Poland, Netherlands, Romania, Slovakia, Croatia, Bulgaria, Spain, Finland, France, Germany, Sweden.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2024: 2022 + Belgium.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2025: 2024 + Portugal, Slovenia, Czechia, Ireland.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33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A712-453F-F4AF-E0CC-7AAE32FC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588262-9A39-E3A7-9C11-5F22CAE3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94" y="1005994"/>
            <a:ext cx="10729871" cy="1193509"/>
          </a:xfrm>
        </p:spPr>
        <p:txBody>
          <a:bodyPr/>
          <a:lstStyle/>
          <a:p>
            <a:r>
              <a:rPr lang="en-CA" noProof="0" dirty="0">
                <a:solidFill>
                  <a:schemeClr val="accent6">
                    <a:lumMod val="50000"/>
                  </a:schemeClr>
                </a:solidFill>
                <a:latin typeface="BT Beau Sans Extra Bold" pitchFamily="2" charset="0"/>
                <a:cs typeface="BT Beau Sans Extra Bold" pitchFamily="2" charset="0"/>
              </a:rPr>
              <a:t>Operationalization</a:t>
            </a:r>
            <a:endParaRPr lang="en-CA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C8D043A-A12C-9180-60C2-0F22595EE568}"/>
              </a:ext>
            </a:extLst>
          </p:cNvPr>
          <p:cNvSpPr txBox="1">
            <a:spLocks/>
          </p:cNvSpPr>
          <p:nvPr/>
        </p:nvSpPr>
        <p:spPr>
          <a:xfrm>
            <a:off x="414987" y="195245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6D52AE3-049A-036F-6C3A-2C3605AD03C2}"/>
              </a:ext>
            </a:extLst>
          </p:cNvPr>
          <p:cNvSpPr txBox="1">
            <a:spLocks/>
          </p:cNvSpPr>
          <p:nvPr/>
        </p:nvSpPr>
        <p:spPr>
          <a:xfrm>
            <a:off x="587982" y="1955060"/>
            <a:ext cx="10699187" cy="3983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Three survey items are used to operationalize the security-collaboration dimension.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Thinking about the European Union’s relationship with Russia, which approach would you prefer European countries to take?</a:t>
            </a:r>
            <a:r>
              <a:rPr lang="en-CA" dirty="0">
                <a:solidFill>
                  <a:schemeClr val="tx1"/>
                </a:solidFill>
              </a:rPr>
              <a:t>  (Defence and security, trade and diplomacy, neither of these).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Support for sending weapons and military equipment to Ukraine.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Willingness to accept higher energy costs due to sanctions.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Factor analysis to develop a continuous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Additional key variables fur further analysis include: left-right ideological self-placement, the GAL-TAN dimension, and vote choice.</a:t>
            </a:r>
          </a:p>
        </p:txBody>
      </p:sp>
    </p:spTree>
    <p:extLst>
      <p:ext uri="{BB962C8B-B14F-4D97-AF65-F5344CB8AC3E}">
        <p14:creationId xmlns:p14="http://schemas.microsoft.com/office/powerpoint/2010/main" val="413199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354E6-0EB9-B9AC-7DEC-7A5F3942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1D92A-5D26-32EB-8525-022A1F4A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129" y="254510"/>
            <a:ext cx="10729871" cy="1193509"/>
          </a:xfrm>
        </p:spPr>
        <p:txBody>
          <a:bodyPr>
            <a:noAutofit/>
          </a:bodyPr>
          <a:lstStyle/>
          <a:p>
            <a:pPr algn="ctr"/>
            <a:r>
              <a:rPr lang="en-CA" sz="4400" noProof="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Security-Collaboration Dimension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915F9C2-6010-C4C8-1831-97552CC4340D}"/>
              </a:ext>
            </a:extLst>
          </p:cNvPr>
          <p:cNvSpPr txBox="1">
            <a:spLocks/>
          </p:cNvSpPr>
          <p:nvPr/>
        </p:nvSpPr>
        <p:spPr>
          <a:xfrm>
            <a:off x="414987" y="195245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2E204-AA71-AABD-12E1-C4094790AA3B}"/>
              </a:ext>
            </a:extLst>
          </p:cNvPr>
          <p:cNvSpPr txBox="1"/>
          <p:nvPr/>
        </p:nvSpPr>
        <p:spPr>
          <a:xfrm>
            <a:off x="10045521" y="6405946"/>
            <a:ext cx="279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Includes all years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5E10DF-B01E-90AA-0B4E-B55F9BD31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186853"/>
              </p:ext>
            </p:extLst>
          </p:nvPr>
        </p:nvGraphicFramePr>
        <p:xfrm>
          <a:off x="4694238" y="5635360"/>
          <a:ext cx="4019549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19549">
                  <a:extLst>
                    <a:ext uri="{9D8B030D-6E8A-4147-A177-3AD203B41FA5}">
                      <a16:colId xmlns:a16="http://schemas.microsoft.com/office/drawing/2014/main" val="679080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EU Relationship with Russia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81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Military Aid to Ukraine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60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Accept Higher Energy Costs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46441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0657651-8F23-38D5-8DE7-019970A8B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26" y="1116106"/>
            <a:ext cx="5692122" cy="50596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70546F-D174-7CE5-D24B-373F27702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729" y="1344065"/>
            <a:ext cx="7297271" cy="416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4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1461F-C333-502B-4CA0-A791E407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03036E-9FCB-16D2-33C6-F6D9F923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678" y="76846"/>
            <a:ext cx="10729871" cy="1193509"/>
          </a:xfrm>
        </p:spPr>
        <p:txBody>
          <a:bodyPr/>
          <a:lstStyle/>
          <a:p>
            <a:pPr algn="ctr"/>
            <a:r>
              <a:rPr lang="en-CA" noProof="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Groupings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36BD936-B861-0E14-71AF-51BF0617D431}"/>
              </a:ext>
            </a:extLst>
          </p:cNvPr>
          <p:cNvSpPr txBox="1">
            <a:spLocks/>
          </p:cNvSpPr>
          <p:nvPr/>
        </p:nvSpPr>
        <p:spPr>
          <a:xfrm>
            <a:off x="414987" y="195245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4E598C-F4E0-1D59-4290-939D36CFE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82" y="1115055"/>
            <a:ext cx="6489446" cy="462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DC7990D-A5C6-5289-14BC-A7A24BD3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982" y="1233412"/>
            <a:ext cx="5397763" cy="462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57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AA3CE4-14EC-FD24-CB08-DCC1DA79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064" y="2514581"/>
            <a:ext cx="10729871" cy="2852737"/>
          </a:xfrm>
        </p:spPr>
        <p:txBody>
          <a:bodyPr>
            <a:normAutofit/>
          </a:bodyPr>
          <a:lstStyle/>
          <a:p>
            <a:pPr algn="ctr"/>
            <a:r>
              <a:rPr lang="en-CA" sz="9600" noProof="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219548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EDF6B1-C332-B9A0-6CCD-B30B0A32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/>
              <a:t>Expectation 2: Horizontal Coherence </a:t>
            </a:r>
            <a:endParaRPr lang="en-CA" sz="4000" noProof="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1AC7812-DB69-9395-6223-FC111DED1E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A15EA06-23FE-612F-54D1-2833B250CB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9F0BA5-B01A-5774-6DE2-7D3457CE9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5" y="1224252"/>
            <a:ext cx="5763204" cy="3842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2B4FD8-5F8A-7882-157E-509EFE00B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673" y="1035632"/>
            <a:ext cx="5611628" cy="420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7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293F-2379-62C5-C531-7C581BD3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EDD9A6-12ED-C236-9F02-E6EDEF280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/>
              <a:t>Expectation 2: Horizontal Coherence </a:t>
            </a:r>
            <a:endParaRPr lang="en-CA" sz="4000" noProof="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9DF43A8-5DBA-6FC7-393C-0C84B374BA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869B519-C57A-D931-3BEC-39C6545F27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0C45D3-8925-9EC0-52D6-D49364855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87248"/>
            <a:ext cx="103632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15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BB0A-8E2B-57E1-0938-BEC3C876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7306EC-9BBC-4B81-F9DC-6CCFA4D6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3: Vertical Extension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BBCDA04-2CDD-7364-DA19-6F8FAEB326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42F20E5-AA90-233C-A86C-98349CF1BA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A9999-D3C1-E507-E4F8-4A904B8B7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08" y="1128830"/>
            <a:ext cx="10526238" cy="526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48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4207-78F6-FC6E-3E70-4D553C17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93B24A-29FC-A036-E03E-BACF173F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3: Vertical Extension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A5DBB22-2366-9819-1057-B4C937BFB5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6F312DB-8344-7B80-2FED-A5A75AB687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407121-67D1-8622-8CBD-6395877C8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6" y="1791613"/>
            <a:ext cx="10967981" cy="487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31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DCD7-B2CC-E93A-337B-BFBCDC7BF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451983-D8AE-3499-6F66-C463F773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3600" noProof="0" dirty="0">
                <a:latin typeface="Aharoni" panose="02010803020104030203" pitchFamily="2" charset="-79"/>
                <a:cs typeface="Aharoni" panose="02010803020104030203" pitchFamily="2" charset="-79"/>
              </a:rPr>
              <a:t>Expectation 4: Cuts Across Existing Cleavages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4AD0859-CA49-EC39-E7E5-FAA2996648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0D4E170-143D-8C8E-DA6F-8A5558B891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9F738E-CF21-ED51-BEC3-38D9088D6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8" y="953351"/>
            <a:ext cx="11228154" cy="561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22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95FB-B698-348D-65A5-0EB5ADA2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27B71D-1E30-C343-1D41-DE8CCBC2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5: Political Consequences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646E662-0CFC-2015-08A3-068D537FB6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27F2DBF1-DCE9-85AD-BA7A-0A6173FB90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E81D937-F683-1AC7-FE0E-C49BD8C5024D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A9AC2A-2223-A464-C610-34E73F637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975" y="953352"/>
            <a:ext cx="8578850" cy="571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322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B2B2-0655-0D2D-7685-8A80BC2E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4E0E6B-1708-86DE-9284-086D7371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Party Positions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AC9F279-8668-DD99-81A4-2F17BEE7D6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740FE4B-EDFA-C3FF-4F0E-2B29A7C1D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86B8BA2-4FCE-E3B9-CFE0-D023E8DEA8C0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97797B-416E-FB78-785C-6B4F838B5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102" y="1080319"/>
            <a:ext cx="7703574" cy="577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90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ECDBD-2E5C-1FB4-A9BB-0346F432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CD13FF-9171-F427-5B3E-873AED8D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Party Positions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DF6D38C-F653-7D1F-D6EB-66AF28DE56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C6A3CE3-4512-6360-C05A-BD6B67330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AFB9C54-5E04-E817-09EA-1AAD8D8A04A9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5AAE64-F075-260C-2DFE-01F81C27D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71" y="953352"/>
            <a:ext cx="7851058" cy="588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21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B357-012A-3519-5E23-074F29CC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10B202-1C44-E32C-3770-29DA43BD2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5: Political Consequences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860C0CD-8795-82E5-9423-3F63EC0F1231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B0D33DA-02E4-A220-F955-83D6E94D8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0" y="780288"/>
            <a:ext cx="8829040" cy="529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6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78D4-8921-15BC-7626-8F45A56D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10D6F5-D319-D937-9345-2A36A7CE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5: Political Consequences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FD4B9A8-16C5-54A7-8876-7F1B77D42D25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4EA6E-A76F-9C02-3D36-FC8F6B3A7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20" y="942464"/>
            <a:ext cx="9698073" cy="581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49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3BC3-C565-9966-734E-74115695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779E4E-411D-7EF2-E148-066C0E41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5: Political Consequences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E3D27F5-7356-84F9-8190-38E7430F79B4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D8C63E-25D9-C6A4-ADD3-B89B0BA54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870" y="1351280"/>
            <a:ext cx="6125210" cy="35001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2CCB6F-1ABA-855E-63E0-AA538EA0EE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" y="1351280"/>
            <a:ext cx="6125210" cy="350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43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C992-1A4A-E053-1A95-91964F5E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F121-CFD8-F319-65C0-17CE57B6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7" y="2210663"/>
            <a:ext cx="10699187" cy="3969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CA" dirty="0"/>
              <a:t>Most Europeans have a position on the security-accommodation dimension. </a:t>
            </a:r>
          </a:p>
          <a:p>
            <a:pPr marL="457200" indent="-457200">
              <a:buAutoNum type="arabicPeriod"/>
            </a:pPr>
            <a:r>
              <a:rPr lang="en-CA" dirty="0"/>
              <a:t>Europeans’ position on the security-collaboration dimension is associated with their views on foreign policy issues, NATO, the European Union, and democracy.</a:t>
            </a:r>
          </a:p>
          <a:p>
            <a:pPr marL="457200" indent="-457200">
              <a:buAutoNum type="arabicPeriod"/>
            </a:pPr>
            <a:r>
              <a:rPr lang="en-CA" dirty="0"/>
              <a:t>While correlated with the left-right and GAL-TAN dimensions, the security-accommodation dimension independently predicts support for pro-Russian parties and pro-EU parties as well as the vote for </a:t>
            </a:r>
            <a:r>
              <a:rPr lang="en-CA"/>
              <a:t>various party </a:t>
            </a:r>
            <a:r>
              <a:rPr lang="en-CA" dirty="0"/>
              <a:t>families. </a:t>
            </a:r>
          </a:p>
        </p:txBody>
      </p:sp>
    </p:spTree>
    <p:extLst>
      <p:ext uri="{BB962C8B-B14F-4D97-AF65-F5344CB8AC3E}">
        <p14:creationId xmlns:p14="http://schemas.microsoft.com/office/powerpoint/2010/main" val="5235605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A6F51-BBD9-6C23-F09B-E98E39356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E878A7-8588-6536-21BB-C0E1F48A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noProof="0" dirty="0">
                <a:solidFill>
                  <a:schemeClr val="tx1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Appendix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96A9A-3E60-0AEE-8B53-5446D964A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2052088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04AA6-D50E-A0A4-79DB-EBE0617C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87E4B4-5E38-EDC8-4F0A-8B95BA2A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749" y="267388"/>
            <a:ext cx="10729871" cy="1193509"/>
          </a:xfrm>
        </p:spPr>
        <p:txBody>
          <a:bodyPr>
            <a:noAutofit/>
          </a:bodyPr>
          <a:lstStyle/>
          <a:p>
            <a:pPr algn="ctr"/>
            <a:r>
              <a:rPr lang="en-CA" sz="4800" noProof="0" dirty="0">
                <a:latin typeface="Aharoni" panose="02010803020104030203" pitchFamily="2" charset="-79"/>
                <a:cs typeface="Aharoni" panose="02010803020104030203" pitchFamily="2" charset="-79"/>
              </a:rPr>
              <a:t>Collaboration-Security Dimension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5281B92-B4CA-5D7B-9331-9C8E8BC6D9F8}"/>
              </a:ext>
            </a:extLst>
          </p:cNvPr>
          <p:cNvSpPr txBox="1">
            <a:spLocks/>
          </p:cNvSpPr>
          <p:nvPr/>
        </p:nvSpPr>
        <p:spPr>
          <a:xfrm>
            <a:off x="414987" y="195245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D4993-997D-7695-3460-B4F5D963A7C8}"/>
              </a:ext>
            </a:extLst>
          </p:cNvPr>
          <p:cNvSpPr txBox="1"/>
          <p:nvPr/>
        </p:nvSpPr>
        <p:spPr>
          <a:xfrm>
            <a:off x="10045521" y="6405946"/>
            <a:ext cx="279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Includes all years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9D68E-0984-1E26-C8E0-52D313230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59" y="864142"/>
            <a:ext cx="7783121" cy="555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18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53E49-5511-F8A5-09B7-CBA395C8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6CE1-9492-65B3-0CAB-1631865C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7" y="1185418"/>
            <a:ext cx="10699187" cy="1325563"/>
          </a:xfrm>
        </p:spPr>
        <p:txBody>
          <a:bodyPr/>
          <a:lstStyle/>
          <a:p>
            <a:r>
              <a:rPr lang="en-CA" noProof="0" dirty="0"/>
              <a:t>What is a Cleavage?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DFA71-390C-21DC-9B86-55A388149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87" y="1952450"/>
            <a:ext cx="10699187" cy="31898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Political conflict is organized along enduring lines.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Social-structural divisions that differentiate societal groups.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Contain a corresponding set of structured attitudes.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Express themselves in political alignment and competition </a:t>
            </a:r>
            <a:r>
              <a:rPr lang="en-US" sz="1800" b="1" dirty="0"/>
              <a:t>(</a:t>
            </a:r>
            <a:r>
              <a:rPr lang="en-US" sz="1800" b="1" dirty="0" err="1"/>
              <a:t>Lipset</a:t>
            </a:r>
            <a:r>
              <a:rPr lang="en-US" sz="1800" b="1" dirty="0"/>
              <a:t> and </a:t>
            </a:r>
            <a:r>
              <a:rPr lang="en-US" sz="1800" b="1" dirty="0" err="1"/>
              <a:t>Rokkan</a:t>
            </a:r>
            <a:r>
              <a:rPr lang="en-US" sz="1800" b="1" dirty="0"/>
              <a:t> 1967)</a:t>
            </a:r>
            <a:r>
              <a:rPr lang="en-US" dirty="0"/>
              <a:t>.</a:t>
            </a:r>
          </a:p>
          <a:p>
            <a:r>
              <a:rPr lang="en-US" dirty="0"/>
              <a:t>Modern cleavages are based on individuals’ belief systems.</a:t>
            </a:r>
          </a:p>
          <a:p>
            <a:pPr lvl="1"/>
            <a:r>
              <a:rPr lang="en-US" dirty="0"/>
              <a:t>Belief systems structure how individuals interpret the political world.</a:t>
            </a:r>
          </a:p>
          <a:p>
            <a:pPr marL="685165" lvl="1" indent="-227965"/>
            <a:r>
              <a:rPr lang="en-US" dirty="0"/>
              <a:t>Modern cleavages include, left-right, urban-suburban, pro-anti-EU, GAL-TAN</a:t>
            </a:r>
            <a:endParaRPr lang="en-US" dirty="0">
              <a:cs typeface="Arial"/>
            </a:endParaRP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9D29F15-8CCB-FC8A-1A91-6FD06D093C16}"/>
              </a:ext>
            </a:extLst>
          </p:cNvPr>
          <p:cNvGraphicFramePr/>
          <p:nvPr/>
        </p:nvGraphicFramePr>
        <p:xfrm>
          <a:off x="2167924" y="260905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298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10F4E-B291-502E-F85E-27BCF334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6C5F82-B77D-17DC-30B5-E65F0D5F7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Factor Analysis: Collaboration Security Measure 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08723B1-9B9D-8D7A-22C2-62264FC762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E991134-CF11-AEE1-1F3C-CD23F80DE7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808EC54-A62C-430E-FAD1-C4912CF3D6BF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A6426-6A21-7CBA-A9D2-B76DEA6EC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043762"/>
              </p:ext>
            </p:extLst>
          </p:nvPr>
        </p:nvGraphicFramePr>
        <p:xfrm>
          <a:off x="2054224" y="4160830"/>
          <a:ext cx="8083549" cy="2219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19549">
                  <a:extLst>
                    <a:ext uri="{9D8B030D-6E8A-4147-A177-3AD203B41FA5}">
                      <a16:colId xmlns:a16="http://schemas.microsoft.com/office/drawing/2014/main" val="9222392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7663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758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EU Relationship with 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57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Military Aid to Ukraine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50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Accept Higher Energy Costs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35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SS Loadings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126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Proportion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72073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CA45ED0-7175-9079-3BBC-AEC0BBEDAE53}"/>
              </a:ext>
            </a:extLst>
          </p:cNvPr>
          <p:cNvSpPr txBox="1">
            <a:spLocks/>
          </p:cNvSpPr>
          <p:nvPr/>
        </p:nvSpPr>
        <p:spPr>
          <a:xfrm>
            <a:off x="497671" y="1512690"/>
            <a:ext cx="10699187" cy="3983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All three items dichotomized with 1 as the Pro-Security 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Tetrachoric factor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Eigen values: 2.224; 0.526; 0.249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Alpha = 0.68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Final variable is reversed so the higher the value the higher the respondent’s collaboration focus. </a:t>
            </a:r>
          </a:p>
        </p:txBody>
      </p:sp>
    </p:spTree>
    <p:extLst>
      <p:ext uri="{BB962C8B-B14F-4D97-AF65-F5344CB8AC3E}">
        <p14:creationId xmlns:p14="http://schemas.microsoft.com/office/powerpoint/2010/main" val="348582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6742-5721-5662-F40F-A6F7CC3C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F7E84-7A25-AE18-D7E1-E6509EC5F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Grouping Variable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A071F14-03E4-CFED-B40F-0D432E30BC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2D678B5A-0C70-B681-AEF2-07367B3A9D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F9932F5-5AA3-9244-02BF-726CBFD9BCCC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E692D6E-3731-CE92-CDD9-8FB1A36EF8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0707216"/>
              </p:ext>
            </p:extLst>
          </p:nvPr>
        </p:nvGraphicFramePr>
        <p:xfrm>
          <a:off x="1097721" y="10244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C974E19-FAD6-1FBE-6647-FDED17377241}"/>
              </a:ext>
            </a:extLst>
          </p:cNvPr>
          <p:cNvSpPr txBox="1"/>
          <p:nvPr/>
        </p:nvSpPr>
        <p:spPr>
          <a:xfrm>
            <a:off x="5943600" y="1980697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7EA20-AA76-B341-65F1-ED172DBE5870}"/>
              </a:ext>
            </a:extLst>
          </p:cNvPr>
          <p:cNvSpPr txBox="1"/>
          <p:nvPr/>
        </p:nvSpPr>
        <p:spPr>
          <a:xfrm>
            <a:off x="2661479" y="1892369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BD23A-C402-0178-2E2D-83E929A57A64}"/>
              </a:ext>
            </a:extLst>
          </p:cNvPr>
          <p:cNvSpPr txBox="1"/>
          <p:nvPr/>
        </p:nvSpPr>
        <p:spPr>
          <a:xfrm>
            <a:off x="7560547" y="3517288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B7FEE-A126-D959-511C-550F82FD9D54}"/>
              </a:ext>
            </a:extLst>
          </p:cNvPr>
          <p:cNvSpPr txBox="1"/>
          <p:nvPr/>
        </p:nvSpPr>
        <p:spPr>
          <a:xfrm>
            <a:off x="4995563" y="3513974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E372D-BB83-32D7-3222-B14A2BF7CCCD}"/>
              </a:ext>
            </a:extLst>
          </p:cNvPr>
          <p:cNvSpPr txBox="1"/>
          <p:nvPr/>
        </p:nvSpPr>
        <p:spPr>
          <a:xfrm>
            <a:off x="8428564" y="4919124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8A159A-8242-ABF8-C3BE-82894EA6FADF}"/>
              </a:ext>
            </a:extLst>
          </p:cNvPr>
          <p:cNvSpPr txBox="1"/>
          <p:nvPr/>
        </p:nvSpPr>
        <p:spPr>
          <a:xfrm>
            <a:off x="5661990" y="4958881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600D4-2AD5-D41E-E38B-99E24BAFCF7A}"/>
              </a:ext>
            </a:extLst>
          </p:cNvPr>
          <p:cNvSpPr txBox="1"/>
          <p:nvPr/>
        </p:nvSpPr>
        <p:spPr>
          <a:xfrm>
            <a:off x="3895126" y="3517288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FCBC22-695B-1F18-3FE1-1921E2A89489}"/>
              </a:ext>
            </a:extLst>
          </p:cNvPr>
          <p:cNvSpPr txBox="1"/>
          <p:nvPr/>
        </p:nvSpPr>
        <p:spPr>
          <a:xfrm>
            <a:off x="1026861" y="3523036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164293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01CB8-29E3-FB2E-EBE2-DAFDF56E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D75C57-D76F-C2BC-03C8-7E7336DF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GAL-TAN Measure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E8E06EB-826A-2955-77C8-C5D4C3C27C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25787D3-ECE8-6F3A-06C8-04705E5246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79A9A52-7273-8427-6806-8A216FA2F05E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5FCB6E2-AF6A-8482-8093-5E47352E9645}"/>
              </a:ext>
            </a:extLst>
          </p:cNvPr>
          <p:cNvSpPr txBox="1">
            <a:spLocks/>
          </p:cNvSpPr>
          <p:nvPr/>
        </p:nvSpPr>
        <p:spPr>
          <a:xfrm>
            <a:off x="497671" y="1284665"/>
            <a:ext cx="6880591" cy="3983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6 item additive index all dichotomous variables: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Climate chosen as one of respondents’ most important issues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 immigrants from country’s ethnic group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 immigrants from a different ethnic group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 immigrants from poorer countries in the EU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 immigrants from poorer countries outside the EU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alpha = 0.83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87AE5B-138B-21C8-C3C5-6A90AAE59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993" y="14478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02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B8DE-9300-C426-E40C-5FA7F51E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CC59BF-C0EB-4D75-8DA5-151C9269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4: Left-Right Placement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B3D61DEB-A78A-F33F-5FB9-6B80C6E785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C66E004-8A92-7774-9A8F-92960FD236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33C4804-99C3-4DE3-C7C1-7F6522AB33D8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9851E-6574-6B77-2762-74739A4E5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76" y="966625"/>
            <a:ext cx="11445448" cy="572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05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015A4-F73B-C83A-DB16-4E00B861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E1DE4B-228E-52ED-74FA-DB932ED2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4: Pro-Russian Parties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FE126EF1-5C3F-FE08-439C-544B104420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A7DB5CA-E800-AA2F-0E69-874F35BEB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9DE4AF8-0A02-01A6-D728-9FC3ECCB3391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35312D-F9C0-431C-337E-19B7D5777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0" y="1092200"/>
            <a:ext cx="11308080" cy="565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72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EEC4D-B5EF-08AF-7C8C-59B2632F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F7AC5A-D7EA-2FD3-5E71-9062BC3F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4: Pro-Ukraine Parties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B6F57FD-BBB6-F85C-D3CB-887293D714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6B10D8C7-9614-CDC9-545D-BBA2E6AEB3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4342F12-5C6D-964C-0C65-77CB1C81893B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B2C562-5BDC-AEB0-73DB-EC25A8EF0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22019"/>
            <a:ext cx="11369040" cy="568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69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B10C-B552-B9E7-EF16-C97BF65F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53ABFC-673C-B8E8-DF1D-87CA6FD4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4: Pro-EU Parties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713C692-D43C-F3C1-4D0F-FC76A30702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2F91D7E-A005-ECB6-DC55-866FC09597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4A1D063-1749-9B93-D63A-D33844A7982C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E5F894-CDDF-B795-CFFC-1D0709D96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99" y="1232246"/>
            <a:ext cx="11089994" cy="554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50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FF7FE-D807-D14A-C99A-B29F2880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93D059-D3EB-4ADF-C35D-0D1ACA0E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290571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4: GAL-TAN Parties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F1925A0C-040F-FDFA-E43D-E37E28C19C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C496FE08-E6C6-ED29-1C7C-1F5310E0E4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AF55CF5-0B43-E799-6B46-7D6D4FBF98BE}"/>
              </a:ext>
            </a:extLst>
          </p:cNvPr>
          <p:cNvSpPr txBox="1">
            <a:spLocks/>
          </p:cNvSpPr>
          <p:nvPr/>
        </p:nvSpPr>
        <p:spPr>
          <a:xfrm>
            <a:off x="746406" y="5423210"/>
            <a:ext cx="10699187" cy="318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5B36B-A764-C28F-2513-4F4AF9D8D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920905"/>
            <a:ext cx="115824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64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89EC-74FD-BE42-8612-D529BDEA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06B304-9FF4-788F-CD0F-7C9B727A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/>
              <a:t>Expectation 2: Horizontal Coherence </a:t>
            </a:r>
            <a:endParaRPr lang="en-CA" sz="4000" noProof="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0F42AFA-DE9F-DFD4-4179-37C094D7D7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64C8E8D-3F90-A26B-6CB8-28A7D018F8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EA05BB-D9CE-B67C-F8CC-DD9220666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151" y="1145475"/>
            <a:ext cx="9743697" cy="487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9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37C54-AC15-F876-C985-1AA2F93A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63F135-0612-13E2-2026-1257216F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/>
              <a:t>Expectation 2: Horizontal Coherence </a:t>
            </a:r>
            <a:endParaRPr lang="en-CA" sz="4000" noProof="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AA5E4A2-3B17-99B1-15BD-07C68C5E0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64996B2-0BC5-50B4-3FE6-B3790C0F64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DA871022-F4E1-35FE-BDCD-7341ECC19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7" y="1243257"/>
            <a:ext cx="11718886" cy="467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008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1661-D149-1F1C-12E6-7AD93269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6252B7-2B9A-9694-7273-E8B40774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 dirty="0"/>
              <a:t>Expectation 3: Vertical Extension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DD76DF9-D42F-A4F4-85F0-03F67080A5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9266C27-8018-0C45-D800-14FBAF55B9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FD759D-A31B-3304-1C9C-AD9B0DC07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15" y="1378808"/>
            <a:ext cx="10563069" cy="528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94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220CD-990E-6543-C363-31F09ADB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6B5888-8BF3-48CC-7AAC-DFB81AAF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28" y="466050"/>
            <a:ext cx="10690143" cy="1325563"/>
          </a:xfrm>
        </p:spPr>
        <p:txBody>
          <a:bodyPr>
            <a:normAutofit/>
          </a:bodyPr>
          <a:lstStyle/>
          <a:p>
            <a:r>
              <a:rPr lang="en-CA" sz="4000" noProof="0"/>
              <a:t>Expectation 2: Horizontal Coherence </a:t>
            </a:r>
            <a:endParaRPr lang="en-CA" sz="4000" noProof="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1B39DB0-5583-885A-6276-C55A7886B7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CEB0ACD-7E36-4716-7285-57A3DCE9CF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F7A7A8-35F6-A2B9-A0AB-00DC9EE37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70" y="1002212"/>
            <a:ext cx="10247630" cy="585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210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UI colour palette">
      <a:dk1>
        <a:srgbClr val="004575"/>
      </a:dk1>
      <a:lt1>
        <a:srgbClr val="FFFFFF"/>
      </a:lt1>
      <a:dk2>
        <a:srgbClr val="004575"/>
      </a:dk2>
      <a:lt2>
        <a:srgbClr val="FFFFFF"/>
      </a:lt2>
      <a:accent1>
        <a:srgbClr val="8F932F"/>
      </a:accent1>
      <a:accent2>
        <a:srgbClr val="C85826"/>
      </a:accent2>
      <a:accent3>
        <a:srgbClr val="C3AEA1"/>
      </a:accent3>
      <a:accent4>
        <a:srgbClr val="F1C36F"/>
      </a:accent4>
      <a:accent5>
        <a:srgbClr val="2480C4"/>
      </a:accent5>
      <a:accent6>
        <a:srgbClr val="00457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RSCAS</Template>
  <TotalTime>17462</TotalTime>
  <Words>1282</Words>
  <Application>Microsoft Macintosh PowerPoint</Application>
  <PresentationFormat>Widescreen</PresentationFormat>
  <Paragraphs>183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ADLaM Display</vt:lpstr>
      <vt:lpstr>Aharoni</vt:lpstr>
      <vt:lpstr>Aptos</vt:lpstr>
      <vt:lpstr>Arial</vt:lpstr>
      <vt:lpstr>BT Beau Sans</vt:lpstr>
      <vt:lpstr>BT Beau Sans Extra Bold</vt:lpstr>
      <vt:lpstr>Tema de Office</vt:lpstr>
      <vt:lpstr>European Solidarity under Strain? Political Divides over Russia and Ukraine in Europe </vt:lpstr>
      <vt:lpstr>Our Arguments in a Nutshell</vt:lpstr>
      <vt:lpstr>The potency of the Europe-Russia cleavage</vt:lpstr>
      <vt:lpstr>Expectations</vt:lpstr>
      <vt:lpstr>Data</vt:lpstr>
      <vt:lpstr>Operationalization</vt:lpstr>
      <vt:lpstr>The Security-Collaboration Dimension</vt:lpstr>
      <vt:lpstr>Groupings</vt:lpstr>
      <vt:lpstr>Results</vt:lpstr>
      <vt:lpstr>Expectation 2: Horizontal Coherence </vt:lpstr>
      <vt:lpstr>Expectation 2: Horizontal Coherence </vt:lpstr>
      <vt:lpstr>Expectation 3: Vertical Extension</vt:lpstr>
      <vt:lpstr>Expectation 3: Vertical Extension</vt:lpstr>
      <vt:lpstr>Expectation 4: Cuts Across Existing Cleavages</vt:lpstr>
      <vt:lpstr>Expectation 5: Political Consequences</vt:lpstr>
      <vt:lpstr>Party Positions</vt:lpstr>
      <vt:lpstr>Party Positions</vt:lpstr>
      <vt:lpstr>Expectation 5: Political Consequences</vt:lpstr>
      <vt:lpstr>Expectation 5: Political Consequences</vt:lpstr>
      <vt:lpstr>Expectation 5: Political Consequences</vt:lpstr>
      <vt:lpstr>Conclusion</vt:lpstr>
      <vt:lpstr>Appendix</vt:lpstr>
      <vt:lpstr>Collaboration-Security Dimension</vt:lpstr>
      <vt:lpstr>What is a Cleavage?</vt:lpstr>
      <vt:lpstr>Factor Analysis: Collaboration Security Measure </vt:lpstr>
      <vt:lpstr>Grouping Variable</vt:lpstr>
      <vt:lpstr>GAL-TAN Measure</vt:lpstr>
      <vt:lpstr>Expectation 4: Left-Right Placement</vt:lpstr>
      <vt:lpstr>Expectation 4: Pro-Russian Parties</vt:lpstr>
      <vt:lpstr>Expectation 4: Pro-Ukraine Parties</vt:lpstr>
      <vt:lpstr>Expectation 4: Pro-EU Parties</vt:lpstr>
      <vt:lpstr>Expectation 4: GAL-TAN Parties</vt:lpstr>
      <vt:lpstr>Expectation 2: Horizontal Coherence </vt:lpstr>
      <vt:lpstr>Expectation 2: Horizontal Coherence </vt:lpstr>
      <vt:lpstr>Expectation 3: Vertical Extension</vt:lpstr>
      <vt:lpstr>Expectation 2: Horizontal Coherence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Dietlind Stolle, Prof</dc:creator>
  <cp:lastModifiedBy>Rafael Campos-Gottardo</cp:lastModifiedBy>
  <cp:revision>22</cp:revision>
  <cp:lastPrinted>2025-09-23T06:16:45Z</cp:lastPrinted>
  <dcterms:created xsi:type="dcterms:W3CDTF">2025-09-19T04:34:04Z</dcterms:created>
  <dcterms:modified xsi:type="dcterms:W3CDTF">2026-05-19T04:30:49Z</dcterms:modified>
</cp:coreProperties>
</file>